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268" r:id="rId3"/>
    <p:sldId id="260" r:id="rId4"/>
    <p:sldId id="262" r:id="rId5"/>
    <p:sldId id="263" r:id="rId6"/>
    <p:sldId id="261" r:id="rId7"/>
    <p:sldId id="264" r:id="rId8"/>
    <p:sldId id="259" r:id="rId9"/>
    <p:sldId id="267"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2" autoAdjust="0"/>
    <p:restoredTop sz="87052" autoAdjust="0"/>
  </p:normalViewPr>
  <p:slideViewPr>
    <p:cSldViewPr snapToGrid="0">
      <p:cViewPr varScale="1">
        <p:scale>
          <a:sx n="72" d="100"/>
          <a:sy n="72" d="100"/>
        </p:scale>
        <p:origin x="100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9275F-8C34-49D7-8452-0F23E6BF711A}" type="doc">
      <dgm:prSet loTypeId="urn:microsoft.com/office/officeart/2005/8/layout/venn1" loCatId="relationship" qsTypeId="urn:microsoft.com/office/officeart/2005/8/quickstyle/simple1" qsCatId="simple" csTypeId="urn:microsoft.com/office/officeart/2005/8/colors/colorful4" csCatId="colorful" phldr="1"/>
      <dgm:spPr/>
      <dgm:t>
        <a:bodyPr/>
        <a:lstStyle/>
        <a:p>
          <a:endParaRPr lang="en-US"/>
        </a:p>
      </dgm:t>
    </dgm:pt>
    <dgm:pt modelId="{F88B24EB-D41A-4F05-8E6D-B7E3C9771621}">
      <dgm:prSet custT="1"/>
      <dgm:spPr/>
      <dgm:t>
        <a:bodyPr/>
        <a:lstStyle/>
        <a:p>
          <a:r>
            <a:rPr lang="en-US" sz="1400" b="1" dirty="0"/>
            <a:t>Assessment Dates</a:t>
          </a:r>
        </a:p>
        <a:p>
          <a:r>
            <a:rPr lang="en-US" sz="1100" dirty="0"/>
            <a:t>Check Assessment Dates</a:t>
          </a:r>
        </a:p>
        <a:p>
          <a:r>
            <a:rPr lang="en-US" sz="1100" dirty="0"/>
            <a:t>19, 24, 34, 49, 54, 69</a:t>
          </a:r>
        </a:p>
      </dgm:t>
    </dgm:pt>
    <dgm:pt modelId="{258B8EDA-A75D-4890-BBB6-4B03CA016234}" type="parTrans" cxnId="{170B5058-D388-4F20-A135-54AF8148FE07}">
      <dgm:prSet/>
      <dgm:spPr/>
      <dgm:t>
        <a:bodyPr/>
        <a:lstStyle/>
        <a:p>
          <a:endParaRPr lang="en-US"/>
        </a:p>
      </dgm:t>
    </dgm:pt>
    <dgm:pt modelId="{1BEC78DC-8674-4C04-B2B8-C5CB6D297F5E}" type="sibTrans" cxnId="{170B5058-D388-4F20-A135-54AF8148FE07}">
      <dgm:prSet/>
      <dgm:spPr/>
      <dgm:t>
        <a:bodyPr/>
        <a:lstStyle/>
        <a:p>
          <a:endParaRPr lang="en-US"/>
        </a:p>
      </dgm:t>
    </dgm:pt>
    <dgm:pt modelId="{9AF5364F-170A-4CA8-A151-0FA682E47B43}">
      <dgm:prSet custT="1"/>
      <dgm:spPr/>
      <dgm:t>
        <a:bodyPr/>
        <a:lstStyle/>
        <a:p>
          <a:r>
            <a:rPr lang="en-US" sz="1400" b="1" dirty="0"/>
            <a:t>Student Credit</a:t>
          </a:r>
        </a:p>
        <a:p>
          <a:r>
            <a:rPr lang="en-US" sz="1100" dirty="0"/>
            <a:t>Highlight Assessments with Highest Credits</a:t>
          </a:r>
        </a:p>
      </dgm:t>
    </dgm:pt>
    <dgm:pt modelId="{D12DF2A5-505D-4A5A-BA8D-8BC4FDBB385B}" type="parTrans" cxnId="{05206BE8-C6AA-4F90-8662-E2B12AC23DC3}">
      <dgm:prSet/>
      <dgm:spPr/>
      <dgm:t>
        <a:bodyPr/>
        <a:lstStyle/>
        <a:p>
          <a:endParaRPr lang="en-US"/>
        </a:p>
      </dgm:t>
    </dgm:pt>
    <dgm:pt modelId="{B5EF59D8-6F83-4E6F-88FF-8D3B9FD0EF0D}" type="sibTrans" cxnId="{05206BE8-C6AA-4F90-8662-E2B12AC23DC3}">
      <dgm:prSet/>
      <dgm:spPr/>
      <dgm:t>
        <a:bodyPr/>
        <a:lstStyle/>
        <a:p>
          <a:endParaRPr lang="en-US"/>
        </a:p>
      </dgm:t>
    </dgm:pt>
    <dgm:pt modelId="{29E717A3-41A8-4A6C-86D2-56A939CBF2D4}">
      <dgm:prSet custT="1"/>
      <dgm:spPr/>
      <dgm:t>
        <a:bodyPr/>
        <a:lstStyle/>
        <a:p>
          <a:r>
            <a:rPr lang="en-US" sz="1400" b="1" dirty="0"/>
            <a:t>Student Score</a:t>
          </a:r>
        </a:p>
        <a:p>
          <a:r>
            <a:rPr lang="en-US" sz="1100" dirty="0"/>
            <a:t>Check Students with Scores Lower than 72</a:t>
          </a:r>
        </a:p>
      </dgm:t>
    </dgm:pt>
    <dgm:pt modelId="{FD095669-ACCD-46CF-A9EE-251F3EFBD83D}" type="parTrans" cxnId="{98E817F8-B374-4C98-A964-92D8C890790D}">
      <dgm:prSet/>
      <dgm:spPr/>
      <dgm:t>
        <a:bodyPr/>
        <a:lstStyle/>
        <a:p>
          <a:endParaRPr lang="en-US"/>
        </a:p>
      </dgm:t>
    </dgm:pt>
    <dgm:pt modelId="{6081D6FF-8A7D-420B-BBCA-AE7E9C685ED0}" type="sibTrans" cxnId="{98E817F8-B374-4C98-A964-92D8C890790D}">
      <dgm:prSet/>
      <dgm:spPr/>
      <dgm:t>
        <a:bodyPr/>
        <a:lstStyle/>
        <a:p>
          <a:endParaRPr lang="en-US"/>
        </a:p>
      </dgm:t>
    </dgm:pt>
    <dgm:pt modelId="{ED51377D-B309-49DE-8B94-B91F47EDB10E}" type="pres">
      <dgm:prSet presAssocID="{E0D9275F-8C34-49D7-8452-0F23E6BF711A}" presName="compositeShape" presStyleCnt="0">
        <dgm:presLayoutVars>
          <dgm:chMax val="7"/>
          <dgm:dir/>
          <dgm:resizeHandles val="exact"/>
        </dgm:presLayoutVars>
      </dgm:prSet>
      <dgm:spPr/>
    </dgm:pt>
    <dgm:pt modelId="{6AC1E122-3F86-4318-BAB0-644B135A87A0}" type="pres">
      <dgm:prSet presAssocID="{F88B24EB-D41A-4F05-8E6D-B7E3C9771621}" presName="circ1" presStyleLbl="vennNode1" presStyleIdx="0" presStyleCnt="3"/>
      <dgm:spPr/>
    </dgm:pt>
    <dgm:pt modelId="{0118141B-86EB-4B2C-9186-E5C1B7BFB734}" type="pres">
      <dgm:prSet presAssocID="{F88B24EB-D41A-4F05-8E6D-B7E3C9771621}" presName="circ1Tx" presStyleLbl="revTx" presStyleIdx="0" presStyleCnt="0">
        <dgm:presLayoutVars>
          <dgm:chMax val="0"/>
          <dgm:chPref val="0"/>
          <dgm:bulletEnabled val="1"/>
        </dgm:presLayoutVars>
      </dgm:prSet>
      <dgm:spPr/>
    </dgm:pt>
    <dgm:pt modelId="{5356132F-3475-491A-8A72-15E1EE744BE8}" type="pres">
      <dgm:prSet presAssocID="{9AF5364F-170A-4CA8-A151-0FA682E47B43}" presName="circ2" presStyleLbl="vennNode1" presStyleIdx="1" presStyleCnt="3"/>
      <dgm:spPr/>
    </dgm:pt>
    <dgm:pt modelId="{37A75372-73FF-45DB-8C34-F5D63888FC7D}" type="pres">
      <dgm:prSet presAssocID="{9AF5364F-170A-4CA8-A151-0FA682E47B43}" presName="circ2Tx" presStyleLbl="revTx" presStyleIdx="0" presStyleCnt="0">
        <dgm:presLayoutVars>
          <dgm:chMax val="0"/>
          <dgm:chPref val="0"/>
          <dgm:bulletEnabled val="1"/>
        </dgm:presLayoutVars>
      </dgm:prSet>
      <dgm:spPr/>
    </dgm:pt>
    <dgm:pt modelId="{8D72A62E-60FB-4E7E-B46F-722727082F4D}" type="pres">
      <dgm:prSet presAssocID="{29E717A3-41A8-4A6C-86D2-56A939CBF2D4}" presName="circ3" presStyleLbl="vennNode1" presStyleIdx="2" presStyleCnt="3"/>
      <dgm:spPr/>
    </dgm:pt>
    <dgm:pt modelId="{4E6D2FBB-79BF-4DBA-A561-AB5DC60649C7}" type="pres">
      <dgm:prSet presAssocID="{29E717A3-41A8-4A6C-86D2-56A939CBF2D4}" presName="circ3Tx" presStyleLbl="revTx" presStyleIdx="0" presStyleCnt="0">
        <dgm:presLayoutVars>
          <dgm:chMax val="0"/>
          <dgm:chPref val="0"/>
          <dgm:bulletEnabled val="1"/>
        </dgm:presLayoutVars>
      </dgm:prSet>
      <dgm:spPr/>
    </dgm:pt>
  </dgm:ptLst>
  <dgm:cxnLst>
    <dgm:cxn modelId="{7906BF23-38FB-43B1-B6F4-84E2128215C2}" type="presOf" srcId="{F88B24EB-D41A-4F05-8E6D-B7E3C9771621}" destId="{0118141B-86EB-4B2C-9186-E5C1B7BFB734}" srcOrd="1" destOrd="0" presId="urn:microsoft.com/office/officeart/2005/8/layout/venn1"/>
    <dgm:cxn modelId="{6BEFE367-4E5C-4495-AB4F-A08EC9323682}" type="presOf" srcId="{9AF5364F-170A-4CA8-A151-0FA682E47B43}" destId="{37A75372-73FF-45DB-8C34-F5D63888FC7D}" srcOrd="1" destOrd="0" presId="urn:microsoft.com/office/officeart/2005/8/layout/venn1"/>
    <dgm:cxn modelId="{74B9F477-F942-427D-AE5A-7FB6595DBEB6}" type="presOf" srcId="{9AF5364F-170A-4CA8-A151-0FA682E47B43}" destId="{5356132F-3475-491A-8A72-15E1EE744BE8}" srcOrd="0" destOrd="0" presId="urn:microsoft.com/office/officeart/2005/8/layout/venn1"/>
    <dgm:cxn modelId="{170B5058-D388-4F20-A135-54AF8148FE07}" srcId="{E0D9275F-8C34-49D7-8452-0F23E6BF711A}" destId="{F88B24EB-D41A-4F05-8E6D-B7E3C9771621}" srcOrd="0" destOrd="0" parTransId="{258B8EDA-A75D-4890-BBB6-4B03CA016234}" sibTransId="{1BEC78DC-8674-4C04-B2B8-C5CB6D297F5E}"/>
    <dgm:cxn modelId="{C04EC096-32CF-4846-B2D5-E7B271D48BED}" type="presOf" srcId="{29E717A3-41A8-4A6C-86D2-56A939CBF2D4}" destId="{8D72A62E-60FB-4E7E-B46F-722727082F4D}" srcOrd="0" destOrd="0" presId="urn:microsoft.com/office/officeart/2005/8/layout/venn1"/>
    <dgm:cxn modelId="{F92ECDA4-C019-42ED-97F5-427DF90095B2}" type="presOf" srcId="{F88B24EB-D41A-4F05-8E6D-B7E3C9771621}" destId="{6AC1E122-3F86-4318-BAB0-644B135A87A0}" srcOrd="0" destOrd="0" presId="urn:microsoft.com/office/officeart/2005/8/layout/venn1"/>
    <dgm:cxn modelId="{9373E3B3-F0A4-47E0-96A4-123D363C7B45}" type="presOf" srcId="{29E717A3-41A8-4A6C-86D2-56A939CBF2D4}" destId="{4E6D2FBB-79BF-4DBA-A561-AB5DC60649C7}" srcOrd="1" destOrd="0" presId="urn:microsoft.com/office/officeart/2005/8/layout/venn1"/>
    <dgm:cxn modelId="{05206BE8-C6AA-4F90-8662-E2B12AC23DC3}" srcId="{E0D9275F-8C34-49D7-8452-0F23E6BF711A}" destId="{9AF5364F-170A-4CA8-A151-0FA682E47B43}" srcOrd="1" destOrd="0" parTransId="{D12DF2A5-505D-4A5A-BA8D-8BC4FDBB385B}" sibTransId="{B5EF59D8-6F83-4E6F-88FF-8D3B9FD0EF0D}"/>
    <dgm:cxn modelId="{1B5425ED-6AF9-4218-8682-F6EFBCBA0401}" type="presOf" srcId="{E0D9275F-8C34-49D7-8452-0F23E6BF711A}" destId="{ED51377D-B309-49DE-8B94-B91F47EDB10E}" srcOrd="0" destOrd="0" presId="urn:microsoft.com/office/officeart/2005/8/layout/venn1"/>
    <dgm:cxn modelId="{98E817F8-B374-4C98-A964-92D8C890790D}" srcId="{E0D9275F-8C34-49D7-8452-0F23E6BF711A}" destId="{29E717A3-41A8-4A6C-86D2-56A939CBF2D4}" srcOrd="2" destOrd="0" parTransId="{FD095669-ACCD-46CF-A9EE-251F3EFBD83D}" sibTransId="{6081D6FF-8A7D-420B-BBCA-AE7E9C685ED0}"/>
    <dgm:cxn modelId="{B3D19F47-C1CC-411F-963F-6EE910E4ABF8}" type="presParOf" srcId="{ED51377D-B309-49DE-8B94-B91F47EDB10E}" destId="{6AC1E122-3F86-4318-BAB0-644B135A87A0}" srcOrd="0" destOrd="0" presId="urn:microsoft.com/office/officeart/2005/8/layout/venn1"/>
    <dgm:cxn modelId="{3EE4758F-CEAE-479A-9DA6-44269E2D2968}" type="presParOf" srcId="{ED51377D-B309-49DE-8B94-B91F47EDB10E}" destId="{0118141B-86EB-4B2C-9186-E5C1B7BFB734}" srcOrd="1" destOrd="0" presId="urn:microsoft.com/office/officeart/2005/8/layout/venn1"/>
    <dgm:cxn modelId="{F1A7E78E-E14F-4A08-AE1B-4A725D1DD5D2}" type="presParOf" srcId="{ED51377D-B309-49DE-8B94-B91F47EDB10E}" destId="{5356132F-3475-491A-8A72-15E1EE744BE8}" srcOrd="2" destOrd="0" presId="urn:microsoft.com/office/officeart/2005/8/layout/venn1"/>
    <dgm:cxn modelId="{341B6155-6AA2-4003-9C29-A7852F811DDD}" type="presParOf" srcId="{ED51377D-B309-49DE-8B94-B91F47EDB10E}" destId="{37A75372-73FF-45DB-8C34-F5D63888FC7D}" srcOrd="3" destOrd="0" presId="urn:microsoft.com/office/officeart/2005/8/layout/venn1"/>
    <dgm:cxn modelId="{0A5C7AE1-3365-41D1-8924-02AD9B21E36D}" type="presParOf" srcId="{ED51377D-B309-49DE-8B94-B91F47EDB10E}" destId="{8D72A62E-60FB-4E7E-B46F-722727082F4D}" srcOrd="4" destOrd="0" presId="urn:microsoft.com/office/officeart/2005/8/layout/venn1"/>
    <dgm:cxn modelId="{6BDC1A72-B42C-4CC4-AA84-226F17F0E01F}" type="presParOf" srcId="{ED51377D-B309-49DE-8B94-B91F47EDB10E}" destId="{4E6D2FBB-79BF-4DBA-A561-AB5DC60649C7}"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4D4762-D9FA-4840-AC81-8C92F8EBF886}" type="doc">
      <dgm:prSet loTypeId="urn:microsoft.com/office/officeart/2005/8/layout/radial1" loCatId="cycle" qsTypeId="urn:microsoft.com/office/officeart/2005/8/quickstyle/simple1" qsCatId="simple" csTypeId="urn:microsoft.com/office/officeart/2005/8/colors/colorful4" csCatId="colorful"/>
      <dgm:spPr/>
      <dgm:t>
        <a:bodyPr/>
        <a:lstStyle/>
        <a:p>
          <a:endParaRPr lang="en-US"/>
        </a:p>
      </dgm:t>
    </dgm:pt>
    <dgm:pt modelId="{95174543-BDFB-42A3-8E4D-3885A35D651B}">
      <dgm:prSet/>
      <dgm:spPr/>
      <dgm:t>
        <a:bodyPr/>
        <a:lstStyle/>
        <a:p>
          <a:r>
            <a:rPr lang="en-US"/>
            <a:t>Support</a:t>
          </a:r>
        </a:p>
      </dgm:t>
    </dgm:pt>
    <dgm:pt modelId="{7E845E9F-54FC-4EDC-ADDD-B301B89E9359}" type="parTrans" cxnId="{BEDEB992-CBD2-4DA1-B087-2C5BB259449D}">
      <dgm:prSet/>
      <dgm:spPr/>
      <dgm:t>
        <a:bodyPr/>
        <a:lstStyle/>
        <a:p>
          <a:endParaRPr lang="en-US"/>
        </a:p>
      </dgm:t>
    </dgm:pt>
    <dgm:pt modelId="{6AD88A4C-6F66-45C6-8523-50D1BBC6AEFB}" type="sibTrans" cxnId="{BEDEB992-CBD2-4DA1-B087-2C5BB259449D}">
      <dgm:prSet/>
      <dgm:spPr/>
      <dgm:t>
        <a:bodyPr/>
        <a:lstStyle/>
        <a:p>
          <a:endParaRPr lang="en-US"/>
        </a:p>
      </dgm:t>
    </dgm:pt>
    <dgm:pt modelId="{18672349-4956-402E-B41C-25CAC7E51C07}">
      <dgm:prSet/>
      <dgm:spPr/>
      <dgm:t>
        <a:bodyPr/>
        <a:lstStyle/>
        <a:p>
          <a:r>
            <a:rPr lang="en-US"/>
            <a:t>IMD 10-20% Students, </a:t>
          </a:r>
        </a:p>
      </dgm:t>
    </dgm:pt>
    <dgm:pt modelId="{FA58750B-904C-4331-BB37-0484509ECD73}" type="parTrans" cxnId="{DB5D4A24-C671-4545-9732-92F246CEFBBE}">
      <dgm:prSet/>
      <dgm:spPr/>
      <dgm:t>
        <a:bodyPr/>
        <a:lstStyle/>
        <a:p>
          <a:endParaRPr lang="en-US"/>
        </a:p>
      </dgm:t>
    </dgm:pt>
    <dgm:pt modelId="{BD69C4C4-E139-46F2-928C-48C901CD82BC}" type="sibTrans" cxnId="{DB5D4A24-C671-4545-9732-92F246CEFBBE}">
      <dgm:prSet/>
      <dgm:spPr/>
      <dgm:t>
        <a:bodyPr/>
        <a:lstStyle/>
        <a:p>
          <a:endParaRPr lang="en-US"/>
        </a:p>
      </dgm:t>
    </dgm:pt>
    <dgm:pt modelId="{3CA44982-ACB9-43AD-B645-E228784E84BD}">
      <dgm:prSet/>
      <dgm:spPr/>
      <dgm:t>
        <a:bodyPr/>
        <a:lstStyle/>
        <a:p>
          <a:r>
            <a:rPr lang="en-US"/>
            <a:t>IMD 30-40% Students, </a:t>
          </a:r>
        </a:p>
      </dgm:t>
    </dgm:pt>
    <dgm:pt modelId="{1EDF0201-0A7E-43D9-BCBE-8944B2B2976C}" type="parTrans" cxnId="{0AE9C341-6900-4BBA-ABFC-56491F3865F8}">
      <dgm:prSet/>
      <dgm:spPr/>
      <dgm:t>
        <a:bodyPr/>
        <a:lstStyle/>
        <a:p>
          <a:endParaRPr lang="en-US"/>
        </a:p>
      </dgm:t>
    </dgm:pt>
    <dgm:pt modelId="{CC8906D8-40F4-4356-A123-D7ACF6260211}" type="sibTrans" cxnId="{0AE9C341-6900-4BBA-ABFC-56491F3865F8}">
      <dgm:prSet/>
      <dgm:spPr/>
      <dgm:t>
        <a:bodyPr/>
        <a:lstStyle/>
        <a:p>
          <a:endParaRPr lang="en-US"/>
        </a:p>
      </dgm:t>
    </dgm:pt>
    <dgm:pt modelId="{CA5D53BC-5C9B-4981-928A-130F3B8B604E}">
      <dgm:prSet/>
      <dgm:spPr/>
      <dgm:t>
        <a:bodyPr/>
        <a:lstStyle/>
        <a:p>
          <a:r>
            <a:rPr lang="en-US"/>
            <a:t>Students with Highest Education Lower than A Level</a:t>
          </a:r>
        </a:p>
      </dgm:t>
    </dgm:pt>
    <dgm:pt modelId="{27662CEF-C952-4E76-AEBE-DA3F6B2FDEF7}" type="parTrans" cxnId="{A4E3D1F3-F2F3-412C-B787-692E8D8F71F5}">
      <dgm:prSet/>
      <dgm:spPr/>
      <dgm:t>
        <a:bodyPr/>
        <a:lstStyle/>
        <a:p>
          <a:endParaRPr lang="en-US"/>
        </a:p>
      </dgm:t>
    </dgm:pt>
    <dgm:pt modelId="{6105D977-8208-421B-A74C-6B0082440CE2}" type="sibTrans" cxnId="{A4E3D1F3-F2F3-412C-B787-692E8D8F71F5}">
      <dgm:prSet/>
      <dgm:spPr/>
      <dgm:t>
        <a:bodyPr/>
        <a:lstStyle/>
        <a:p>
          <a:endParaRPr lang="en-US"/>
        </a:p>
      </dgm:t>
    </dgm:pt>
    <dgm:pt modelId="{68E37F5B-FC5F-475D-A5E3-2E8289F13319}">
      <dgm:prSet/>
      <dgm:spPr/>
      <dgm:t>
        <a:bodyPr/>
        <a:lstStyle/>
        <a:p>
          <a:r>
            <a:rPr lang="en-US"/>
            <a:t>Students with Highest Education HE Qualification</a:t>
          </a:r>
        </a:p>
      </dgm:t>
    </dgm:pt>
    <dgm:pt modelId="{273123C8-9E4D-4AE5-8DBD-389B28E554C7}" type="parTrans" cxnId="{8546F99E-ED9C-4ECE-8579-3AF63D4FC11A}">
      <dgm:prSet/>
      <dgm:spPr/>
      <dgm:t>
        <a:bodyPr/>
        <a:lstStyle/>
        <a:p>
          <a:endParaRPr lang="en-US"/>
        </a:p>
      </dgm:t>
    </dgm:pt>
    <dgm:pt modelId="{E2E2B56D-CC0B-4F4A-9E0D-6DB929DC2FAF}" type="sibTrans" cxnId="{8546F99E-ED9C-4ECE-8579-3AF63D4FC11A}">
      <dgm:prSet/>
      <dgm:spPr/>
      <dgm:t>
        <a:bodyPr/>
        <a:lstStyle/>
        <a:p>
          <a:endParaRPr lang="en-US"/>
        </a:p>
      </dgm:t>
    </dgm:pt>
    <dgm:pt modelId="{91BA4F07-89B8-425E-861D-CDF3BA96A8AC}">
      <dgm:prSet/>
      <dgm:spPr/>
      <dgm:t>
        <a:bodyPr/>
        <a:lstStyle/>
        <a:p>
          <a:r>
            <a:rPr lang="en-US"/>
            <a:t>Students from South West Region</a:t>
          </a:r>
        </a:p>
      </dgm:t>
    </dgm:pt>
    <dgm:pt modelId="{22612280-E750-40C9-B510-41371C890363}" type="parTrans" cxnId="{C49473C1-D600-42B9-ABB0-908B77EBC55B}">
      <dgm:prSet/>
      <dgm:spPr/>
      <dgm:t>
        <a:bodyPr/>
        <a:lstStyle/>
        <a:p>
          <a:endParaRPr lang="en-US"/>
        </a:p>
      </dgm:t>
    </dgm:pt>
    <dgm:pt modelId="{6C320685-9B62-464F-8453-DF02D8C60279}" type="sibTrans" cxnId="{C49473C1-D600-42B9-ABB0-908B77EBC55B}">
      <dgm:prSet/>
      <dgm:spPr/>
      <dgm:t>
        <a:bodyPr/>
        <a:lstStyle/>
        <a:p>
          <a:endParaRPr lang="en-US"/>
        </a:p>
      </dgm:t>
    </dgm:pt>
    <dgm:pt modelId="{78D53742-EBB0-49C8-B970-D64988C13172}">
      <dgm:prSet/>
      <dgm:spPr/>
      <dgm:t>
        <a:bodyPr/>
        <a:lstStyle/>
        <a:p>
          <a:r>
            <a:rPr lang="en-US"/>
            <a:t>Male Students </a:t>
          </a:r>
        </a:p>
      </dgm:t>
    </dgm:pt>
    <dgm:pt modelId="{29F1C924-1B60-4C6B-BFC8-136272F9C388}" type="parTrans" cxnId="{2DFF3A03-28F5-4A92-BCA9-A1B9AEE55BB7}">
      <dgm:prSet/>
      <dgm:spPr/>
      <dgm:t>
        <a:bodyPr/>
        <a:lstStyle/>
        <a:p>
          <a:endParaRPr lang="en-US"/>
        </a:p>
      </dgm:t>
    </dgm:pt>
    <dgm:pt modelId="{838C2E28-8F02-4374-A0FB-760464BABA37}" type="sibTrans" cxnId="{2DFF3A03-28F5-4A92-BCA9-A1B9AEE55BB7}">
      <dgm:prSet/>
      <dgm:spPr/>
      <dgm:t>
        <a:bodyPr/>
        <a:lstStyle/>
        <a:p>
          <a:endParaRPr lang="en-US"/>
        </a:p>
      </dgm:t>
    </dgm:pt>
    <dgm:pt modelId="{4F34F545-4943-41DB-A6FB-1B6ADFE802B2}">
      <dgm:prSet/>
      <dgm:spPr/>
      <dgm:t>
        <a:bodyPr/>
        <a:lstStyle/>
        <a:p>
          <a:r>
            <a:rPr lang="en-US"/>
            <a:t>Students with Previous Attempts for Class</a:t>
          </a:r>
        </a:p>
      </dgm:t>
    </dgm:pt>
    <dgm:pt modelId="{1334422C-D431-4673-83A7-4EFEDF9D2E6A}" type="parTrans" cxnId="{03E8DD6C-E3E6-497A-A8A0-2F72FB17E010}">
      <dgm:prSet/>
      <dgm:spPr/>
      <dgm:t>
        <a:bodyPr/>
        <a:lstStyle/>
        <a:p>
          <a:endParaRPr lang="en-US"/>
        </a:p>
      </dgm:t>
    </dgm:pt>
    <dgm:pt modelId="{C635A0BE-0F60-4AD7-9E4B-6F39704166B9}" type="sibTrans" cxnId="{03E8DD6C-E3E6-497A-A8A0-2F72FB17E010}">
      <dgm:prSet/>
      <dgm:spPr/>
      <dgm:t>
        <a:bodyPr/>
        <a:lstStyle/>
        <a:p>
          <a:endParaRPr lang="en-US"/>
        </a:p>
      </dgm:t>
    </dgm:pt>
    <dgm:pt modelId="{DB004D02-2775-4BAF-BBA6-4987BD6789DE}" type="pres">
      <dgm:prSet presAssocID="{034D4762-D9FA-4840-AC81-8C92F8EBF886}" presName="cycle" presStyleCnt="0">
        <dgm:presLayoutVars>
          <dgm:chMax val="1"/>
          <dgm:dir/>
          <dgm:animLvl val="ctr"/>
          <dgm:resizeHandles val="exact"/>
        </dgm:presLayoutVars>
      </dgm:prSet>
      <dgm:spPr/>
    </dgm:pt>
    <dgm:pt modelId="{C421EC6E-1AD9-439F-B6E5-437C5F0086BD}" type="pres">
      <dgm:prSet presAssocID="{95174543-BDFB-42A3-8E4D-3885A35D651B}" presName="centerShape" presStyleLbl="node0" presStyleIdx="0" presStyleCnt="1"/>
      <dgm:spPr/>
    </dgm:pt>
    <dgm:pt modelId="{5B85DA2D-8A52-436E-B810-B4B36B7B4453}" type="pres">
      <dgm:prSet presAssocID="{FA58750B-904C-4331-BB37-0484509ECD73}" presName="Name9" presStyleLbl="parChTrans1D2" presStyleIdx="0" presStyleCnt="7"/>
      <dgm:spPr/>
    </dgm:pt>
    <dgm:pt modelId="{6B2BE7C0-FF9C-402E-9DF9-0F80E896E669}" type="pres">
      <dgm:prSet presAssocID="{FA58750B-904C-4331-BB37-0484509ECD73}" presName="connTx" presStyleLbl="parChTrans1D2" presStyleIdx="0" presStyleCnt="7"/>
      <dgm:spPr/>
    </dgm:pt>
    <dgm:pt modelId="{7037056B-52CC-4FAD-A03F-4F4F01AE98E1}" type="pres">
      <dgm:prSet presAssocID="{18672349-4956-402E-B41C-25CAC7E51C07}" presName="node" presStyleLbl="node1" presStyleIdx="0" presStyleCnt="7">
        <dgm:presLayoutVars>
          <dgm:bulletEnabled val="1"/>
        </dgm:presLayoutVars>
      </dgm:prSet>
      <dgm:spPr/>
    </dgm:pt>
    <dgm:pt modelId="{5C3529D7-2F1B-4B87-A66C-26F9560BD84D}" type="pres">
      <dgm:prSet presAssocID="{1EDF0201-0A7E-43D9-BCBE-8944B2B2976C}" presName="Name9" presStyleLbl="parChTrans1D2" presStyleIdx="1" presStyleCnt="7"/>
      <dgm:spPr/>
    </dgm:pt>
    <dgm:pt modelId="{9ECF3339-94FA-4488-8720-4DFED5C26DAF}" type="pres">
      <dgm:prSet presAssocID="{1EDF0201-0A7E-43D9-BCBE-8944B2B2976C}" presName="connTx" presStyleLbl="parChTrans1D2" presStyleIdx="1" presStyleCnt="7"/>
      <dgm:spPr/>
    </dgm:pt>
    <dgm:pt modelId="{33AF0487-6B61-4A9B-B199-FFE0E501FF09}" type="pres">
      <dgm:prSet presAssocID="{3CA44982-ACB9-43AD-B645-E228784E84BD}" presName="node" presStyleLbl="node1" presStyleIdx="1" presStyleCnt="7">
        <dgm:presLayoutVars>
          <dgm:bulletEnabled val="1"/>
        </dgm:presLayoutVars>
      </dgm:prSet>
      <dgm:spPr/>
    </dgm:pt>
    <dgm:pt modelId="{6E451E09-B83F-410D-ACC8-D1F61385417A}" type="pres">
      <dgm:prSet presAssocID="{27662CEF-C952-4E76-AEBE-DA3F6B2FDEF7}" presName="Name9" presStyleLbl="parChTrans1D2" presStyleIdx="2" presStyleCnt="7"/>
      <dgm:spPr/>
    </dgm:pt>
    <dgm:pt modelId="{F213ECE4-A281-42A5-9F49-825AE59D12ED}" type="pres">
      <dgm:prSet presAssocID="{27662CEF-C952-4E76-AEBE-DA3F6B2FDEF7}" presName="connTx" presStyleLbl="parChTrans1D2" presStyleIdx="2" presStyleCnt="7"/>
      <dgm:spPr/>
    </dgm:pt>
    <dgm:pt modelId="{8FB39EE1-E87B-4B19-B64F-0F14993AA462}" type="pres">
      <dgm:prSet presAssocID="{CA5D53BC-5C9B-4981-928A-130F3B8B604E}" presName="node" presStyleLbl="node1" presStyleIdx="2" presStyleCnt="7">
        <dgm:presLayoutVars>
          <dgm:bulletEnabled val="1"/>
        </dgm:presLayoutVars>
      </dgm:prSet>
      <dgm:spPr/>
    </dgm:pt>
    <dgm:pt modelId="{EC64CB44-DC6D-49A6-8C30-2FEDCB501185}" type="pres">
      <dgm:prSet presAssocID="{273123C8-9E4D-4AE5-8DBD-389B28E554C7}" presName="Name9" presStyleLbl="parChTrans1D2" presStyleIdx="3" presStyleCnt="7"/>
      <dgm:spPr/>
    </dgm:pt>
    <dgm:pt modelId="{A5C28E8D-5362-466E-BEB8-75EC634BA743}" type="pres">
      <dgm:prSet presAssocID="{273123C8-9E4D-4AE5-8DBD-389B28E554C7}" presName="connTx" presStyleLbl="parChTrans1D2" presStyleIdx="3" presStyleCnt="7"/>
      <dgm:spPr/>
    </dgm:pt>
    <dgm:pt modelId="{75FAEB85-5289-4C05-958C-26CAD9A09341}" type="pres">
      <dgm:prSet presAssocID="{68E37F5B-FC5F-475D-A5E3-2E8289F13319}" presName="node" presStyleLbl="node1" presStyleIdx="3" presStyleCnt="7">
        <dgm:presLayoutVars>
          <dgm:bulletEnabled val="1"/>
        </dgm:presLayoutVars>
      </dgm:prSet>
      <dgm:spPr/>
    </dgm:pt>
    <dgm:pt modelId="{B29AA07A-2227-4E07-8BF7-C36DAB35F093}" type="pres">
      <dgm:prSet presAssocID="{22612280-E750-40C9-B510-41371C890363}" presName="Name9" presStyleLbl="parChTrans1D2" presStyleIdx="4" presStyleCnt="7"/>
      <dgm:spPr/>
    </dgm:pt>
    <dgm:pt modelId="{FF58F6FC-08D9-45D5-B705-F941EBC4AE81}" type="pres">
      <dgm:prSet presAssocID="{22612280-E750-40C9-B510-41371C890363}" presName="connTx" presStyleLbl="parChTrans1D2" presStyleIdx="4" presStyleCnt="7"/>
      <dgm:spPr/>
    </dgm:pt>
    <dgm:pt modelId="{EE82EB00-D12D-49AB-9952-F9BED43C30D5}" type="pres">
      <dgm:prSet presAssocID="{91BA4F07-89B8-425E-861D-CDF3BA96A8AC}" presName="node" presStyleLbl="node1" presStyleIdx="4" presStyleCnt="7">
        <dgm:presLayoutVars>
          <dgm:bulletEnabled val="1"/>
        </dgm:presLayoutVars>
      </dgm:prSet>
      <dgm:spPr/>
    </dgm:pt>
    <dgm:pt modelId="{FC2C1FB6-82F1-4CFB-A56D-C69D132E8D14}" type="pres">
      <dgm:prSet presAssocID="{29F1C924-1B60-4C6B-BFC8-136272F9C388}" presName="Name9" presStyleLbl="parChTrans1D2" presStyleIdx="5" presStyleCnt="7"/>
      <dgm:spPr/>
    </dgm:pt>
    <dgm:pt modelId="{7D8D223E-A134-46C7-BBE0-806608FF4F92}" type="pres">
      <dgm:prSet presAssocID="{29F1C924-1B60-4C6B-BFC8-136272F9C388}" presName="connTx" presStyleLbl="parChTrans1D2" presStyleIdx="5" presStyleCnt="7"/>
      <dgm:spPr/>
    </dgm:pt>
    <dgm:pt modelId="{FEFB65E6-4337-483E-B4C6-81F0EF308C56}" type="pres">
      <dgm:prSet presAssocID="{78D53742-EBB0-49C8-B970-D64988C13172}" presName="node" presStyleLbl="node1" presStyleIdx="5" presStyleCnt="7">
        <dgm:presLayoutVars>
          <dgm:bulletEnabled val="1"/>
        </dgm:presLayoutVars>
      </dgm:prSet>
      <dgm:spPr/>
    </dgm:pt>
    <dgm:pt modelId="{0B5DD1CE-46FB-4592-B6B4-F7C957122F0D}" type="pres">
      <dgm:prSet presAssocID="{1334422C-D431-4673-83A7-4EFEDF9D2E6A}" presName="Name9" presStyleLbl="parChTrans1D2" presStyleIdx="6" presStyleCnt="7"/>
      <dgm:spPr/>
    </dgm:pt>
    <dgm:pt modelId="{52A9142F-BC53-4C4D-91D7-EAF5BED50D44}" type="pres">
      <dgm:prSet presAssocID="{1334422C-D431-4673-83A7-4EFEDF9D2E6A}" presName="connTx" presStyleLbl="parChTrans1D2" presStyleIdx="6" presStyleCnt="7"/>
      <dgm:spPr/>
    </dgm:pt>
    <dgm:pt modelId="{C00842AC-4477-4868-B007-A6629F9EBDAD}" type="pres">
      <dgm:prSet presAssocID="{4F34F545-4943-41DB-A6FB-1B6ADFE802B2}" presName="node" presStyleLbl="node1" presStyleIdx="6" presStyleCnt="7">
        <dgm:presLayoutVars>
          <dgm:bulletEnabled val="1"/>
        </dgm:presLayoutVars>
      </dgm:prSet>
      <dgm:spPr/>
    </dgm:pt>
  </dgm:ptLst>
  <dgm:cxnLst>
    <dgm:cxn modelId="{B83D6D00-57F5-4586-8013-C22A091721CC}" type="presOf" srcId="{1EDF0201-0A7E-43D9-BCBE-8944B2B2976C}" destId="{9ECF3339-94FA-4488-8720-4DFED5C26DAF}" srcOrd="1" destOrd="0" presId="urn:microsoft.com/office/officeart/2005/8/layout/radial1"/>
    <dgm:cxn modelId="{2DFF3A03-28F5-4A92-BCA9-A1B9AEE55BB7}" srcId="{95174543-BDFB-42A3-8E4D-3885A35D651B}" destId="{78D53742-EBB0-49C8-B970-D64988C13172}" srcOrd="5" destOrd="0" parTransId="{29F1C924-1B60-4C6B-BFC8-136272F9C388}" sibTransId="{838C2E28-8F02-4374-A0FB-760464BABA37}"/>
    <dgm:cxn modelId="{3BCEA504-9544-48FC-88E2-15ACDE4F1342}" type="presOf" srcId="{273123C8-9E4D-4AE5-8DBD-389B28E554C7}" destId="{EC64CB44-DC6D-49A6-8C30-2FEDCB501185}" srcOrd="0" destOrd="0" presId="urn:microsoft.com/office/officeart/2005/8/layout/radial1"/>
    <dgm:cxn modelId="{FF15B706-FF53-4D4D-B111-91E8D6D0BB8A}" type="presOf" srcId="{22612280-E750-40C9-B510-41371C890363}" destId="{B29AA07A-2227-4E07-8BF7-C36DAB35F093}" srcOrd="0" destOrd="0" presId="urn:microsoft.com/office/officeart/2005/8/layout/radial1"/>
    <dgm:cxn modelId="{0DD90E14-85FD-4819-A596-285A99A6FD07}" type="presOf" srcId="{29F1C924-1B60-4C6B-BFC8-136272F9C388}" destId="{FC2C1FB6-82F1-4CFB-A56D-C69D132E8D14}" srcOrd="0" destOrd="0" presId="urn:microsoft.com/office/officeart/2005/8/layout/radial1"/>
    <dgm:cxn modelId="{3705A914-66F1-4FE8-8313-EC498307C7AB}" type="presOf" srcId="{18672349-4956-402E-B41C-25CAC7E51C07}" destId="{7037056B-52CC-4FAD-A03F-4F4F01AE98E1}" srcOrd="0" destOrd="0" presId="urn:microsoft.com/office/officeart/2005/8/layout/radial1"/>
    <dgm:cxn modelId="{54C80315-878D-4E36-94ED-D7BCC0DA5AB7}" type="presOf" srcId="{1EDF0201-0A7E-43D9-BCBE-8944B2B2976C}" destId="{5C3529D7-2F1B-4B87-A66C-26F9560BD84D}" srcOrd="0" destOrd="0" presId="urn:microsoft.com/office/officeart/2005/8/layout/radial1"/>
    <dgm:cxn modelId="{DB5D4A24-C671-4545-9732-92F246CEFBBE}" srcId="{95174543-BDFB-42A3-8E4D-3885A35D651B}" destId="{18672349-4956-402E-B41C-25CAC7E51C07}" srcOrd="0" destOrd="0" parTransId="{FA58750B-904C-4331-BB37-0484509ECD73}" sibTransId="{BD69C4C4-E139-46F2-928C-48C901CD82BC}"/>
    <dgm:cxn modelId="{35C0A028-C312-4E15-AD7A-6A12956D63CE}" type="presOf" srcId="{22612280-E750-40C9-B510-41371C890363}" destId="{FF58F6FC-08D9-45D5-B705-F941EBC4AE81}" srcOrd="1" destOrd="0" presId="urn:microsoft.com/office/officeart/2005/8/layout/radial1"/>
    <dgm:cxn modelId="{818F1430-4CFC-4FA5-B91D-00859EF32703}" type="presOf" srcId="{1334422C-D431-4673-83A7-4EFEDF9D2E6A}" destId="{52A9142F-BC53-4C4D-91D7-EAF5BED50D44}" srcOrd="1" destOrd="0" presId="urn:microsoft.com/office/officeart/2005/8/layout/radial1"/>
    <dgm:cxn modelId="{C84DA55F-DE66-42C7-8BBA-518B9712E186}" type="presOf" srcId="{27662CEF-C952-4E76-AEBE-DA3F6B2FDEF7}" destId="{F213ECE4-A281-42A5-9F49-825AE59D12ED}" srcOrd="1" destOrd="0" presId="urn:microsoft.com/office/officeart/2005/8/layout/radial1"/>
    <dgm:cxn modelId="{89035F41-37DF-4805-8B4E-7FDC45DF50C2}" type="presOf" srcId="{FA58750B-904C-4331-BB37-0484509ECD73}" destId="{6B2BE7C0-FF9C-402E-9DF9-0F80E896E669}" srcOrd="1" destOrd="0" presId="urn:microsoft.com/office/officeart/2005/8/layout/radial1"/>
    <dgm:cxn modelId="{0AE9C341-6900-4BBA-ABFC-56491F3865F8}" srcId="{95174543-BDFB-42A3-8E4D-3885A35D651B}" destId="{3CA44982-ACB9-43AD-B645-E228784E84BD}" srcOrd="1" destOrd="0" parTransId="{1EDF0201-0A7E-43D9-BCBE-8944B2B2976C}" sibTransId="{CC8906D8-40F4-4356-A123-D7ACF6260211}"/>
    <dgm:cxn modelId="{95B1D142-D575-4297-A1B5-A814891E51C2}" type="presOf" srcId="{4F34F545-4943-41DB-A6FB-1B6ADFE802B2}" destId="{C00842AC-4477-4868-B007-A6629F9EBDAD}" srcOrd="0" destOrd="0" presId="urn:microsoft.com/office/officeart/2005/8/layout/radial1"/>
    <dgm:cxn modelId="{60259467-5487-41B1-985A-B66B3F87D53A}" type="presOf" srcId="{29F1C924-1B60-4C6B-BFC8-136272F9C388}" destId="{7D8D223E-A134-46C7-BBE0-806608FF4F92}" srcOrd="1" destOrd="0" presId="urn:microsoft.com/office/officeart/2005/8/layout/radial1"/>
    <dgm:cxn modelId="{03E8DD6C-E3E6-497A-A8A0-2F72FB17E010}" srcId="{95174543-BDFB-42A3-8E4D-3885A35D651B}" destId="{4F34F545-4943-41DB-A6FB-1B6ADFE802B2}" srcOrd="6" destOrd="0" parTransId="{1334422C-D431-4673-83A7-4EFEDF9D2E6A}" sibTransId="{C635A0BE-0F60-4AD7-9E4B-6F39704166B9}"/>
    <dgm:cxn modelId="{998E164F-BBBC-4992-8642-02CD74FD4A35}" type="presOf" srcId="{91BA4F07-89B8-425E-861D-CDF3BA96A8AC}" destId="{EE82EB00-D12D-49AB-9952-F9BED43C30D5}" srcOrd="0" destOrd="0" presId="urn:microsoft.com/office/officeart/2005/8/layout/radial1"/>
    <dgm:cxn modelId="{AB0B9252-7C16-4066-9E71-D1B7BB8117AC}" type="presOf" srcId="{FA58750B-904C-4331-BB37-0484509ECD73}" destId="{5B85DA2D-8A52-436E-B810-B4B36B7B4453}" srcOrd="0" destOrd="0" presId="urn:microsoft.com/office/officeart/2005/8/layout/radial1"/>
    <dgm:cxn modelId="{886C337A-8BC6-4796-8105-CBE7B8CE2A02}" type="presOf" srcId="{1334422C-D431-4673-83A7-4EFEDF9D2E6A}" destId="{0B5DD1CE-46FB-4592-B6B4-F7C957122F0D}" srcOrd="0" destOrd="0" presId="urn:microsoft.com/office/officeart/2005/8/layout/radial1"/>
    <dgm:cxn modelId="{4905F083-05EC-4B08-A92E-DD549548BFB7}" type="presOf" srcId="{95174543-BDFB-42A3-8E4D-3885A35D651B}" destId="{C421EC6E-1AD9-439F-B6E5-437C5F0086BD}" srcOrd="0" destOrd="0" presId="urn:microsoft.com/office/officeart/2005/8/layout/radial1"/>
    <dgm:cxn modelId="{0AC38290-B1F9-4777-B65C-C0FBFDD53F39}" type="presOf" srcId="{68E37F5B-FC5F-475D-A5E3-2E8289F13319}" destId="{75FAEB85-5289-4C05-958C-26CAD9A09341}" srcOrd="0" destOrd="0" presId="urn:microsoft.com/office/officeart/2005/8/layout/radial1"/>
    <dgm:cxn modelId="{BEDEB992-CBD2-4DA1-B087-2C5BB259449D}" srcId="{034D4762-D9FA-4840-AC81-8C92F8EBF886}" destId="{95174543-BDFB-42A3-8E4D-3885A35D651B}" srcOrd="0" destOrd="0" parTransId="{7E845E9F-54FC-4EDC-ADDD-B301B89E9359}" sibTransId="{6AD88A4C-6F66-45C6-8523-50D1BBC6AEFB}"/>
    <dgm:cxn modelId="{2F870396-3668-4625-AFC9-63D60E26194A}" type="presOf" srcId="{27662CEF-C952-4E76-AEBE-DA3F6B2FDEF7}" destId="{6E451E09-B83F-410D-ACC8-D1F61385417A}" srcOrd="0" destOrd="0" presId="urn:microsoft.com/office/officeart/2005/8/layout/radial1"/>
    <dgm:cxn modelId="{2D9A0F9E-4E4D-44C5-A189-13C146D80CD2}" type="presOf" srcId="{034D4762-D9FA-4840-AC81-8C92F8EBF886}" destId="{DB004D02-2775-4BAF-BBA6-4987BD6789DE}" srcOrd="0" destOrd="0" presId="urn:microsoft.com/office/officeart/2005/8/layout/radial1"/>
    <dgm:cxn modelId="{8546F99E-ED9C-4ECE-8579-3AF63D4FC11A}" srcId="{95174543-BDFB-42A3-8E4D-3885A35D651B}" destId="{68E37F5B-FC5F-475D-A5E3-2E8289F13319}" srcOrd="3" destOrd="0" parTransId="{273123C8-9E4D-4AE5-8DBD-389B28E554C7}" sibTransId="{E2E2B56D-CC0B-4F4A-9E0D-6DB929DC2FAF}"/>
    <dgm:cxn modelId="{C49473C1-D600-42B9-ABB0-908B77EBC55B}" srcId="{95174543-BDFB-42A3-8E4D-3885A35D651B}" destId="{91BA4F07-89B8-425E-861D-CDF3BA96A8AC}" srcOrd="4" destOrd="0" parTransId="{22612280-E750-40C9-B510-41371C890363}" sibTransId="{6C320685-9B62-464F-8453-DF02D8C60279}"/>
    <dgm:cxn modelId="{3DA48DCA-5817-49F8-898E-00D8F4CA8836}" type="presOf" srcId="{273123C8-9E4D-4AE5-8DBD-389B28E554C7}" destId="{A5C28E8D-5362-466E-BEB8-75EC634BA743}" srcOrd="1" destOrd="0" presId="urn:microsoft.com/office/officeart/2005/8/layout/radial1"/>
    <dgm:cxn modelId="{59C219CE-958B-46F4-AFA8-2395E403E231}" type="presOf" srcId="{3CA44982-ACB9-43AD-B645-E228784E84BD}" destId="{33AF0487-6B61-4A9B-B199-FFE0E501FF09}" srcOrd="0" destOrd="0" presId="urn:microsoft.com/office/officeart/2005/8/layout/radial1"/>
    <dgm:cxn modelId="{83E583CE-5BF8-42C0-AFC0-93D37C074896}" type="presOf" srcId="{78D53742-EBB0-49C8-B970-D64988C13172}" destId="{FEFB65E6-4337-483E-B4C6-81F0EF308C56}" srcOrd="0" destOrd="0" presId="urn:microsoft.com/office/officeart/2005/8/layout/radial1"/>
    <dgm:cxn modelId="{A4E3D1F3-F2F3-412C-B787-692E8D8F71F5}" srcId="{95174543-BDFB-42A3-8E4D-3885A35D651B}" destId="{CA5D53BC-5C9B-4981-928A-130F3B8B604E}" srcOrd="2" destOrd="0" parTransId="{27662CEF-C952-4E76-AEBE-DA3F6B2FDEF7}" sibTransId="{6105D977-8208-421B-A74C-6B0082440CE2}"/>
    <dgm:cxn modelId="{D38D55FF-E4FF-4D06-B9C2-944184C9F0D9}" type="presOf" srcId="{CA5D53BC-5C9B-4981-928A-130F3B8B604E}" destId="{8FB39EE1-E87B-4B19-B64F-0F14993AA462}" srcOrd="0" destOrd="0" presId="urn:microsoft.com/office/officeart/2005/8/layout/radial1"/>
    <dgm:cxn modelId="{C922D29F-43B6-46FB-9F38-D96F0A153A16}" type="presParOf" srcId="{DB004D02-2775-4BAF-BBA6-4987BD6789DE}" destId="{C421EC6E-1AD9-439F-B6E5-437C5F0086BD}" srcOrd="0" destOrd="0" presId="urn:microsoft.com/office/officeart/2005/8/layout/radial1"/>
    <dgm:cxn modelId="{7A9E2C43-4916-4218-B385-E74731339205}" type="presParOf" srcId="{DB004D02-2775-4BAF-BBA6-4987BD6789DE}" destId="{5B85DA2D-8A52-436E-B810-B4B36B7B4453}" srcOrd="1" destOrd="0" presId="urn:microsoft.com/office/officeart/2005/8/layout/radial1"/>
    <dgm:cxn modelId="{439AC878-8371-4592-BA06-4A3CE06ABA27}" type="presParOf" srcId="{5B85DA2D-8A52-436E-B810-B4B36B7B4453}" destId="{6B2BE7C0-FF9C-402E-9DF9-0F80E896E669}" srcOrd="0" destOrd="0" presId="urn:microsoft.com/office/officeart/2005/8/layout/radial1"/>
    <dgm:cxn modelId="{E8E89E13-1CA4-4818-B516-D12BDD79C5D4}" type="presParOf" srcId="{DB004D02-2775-4BAF-BBA6-4987BD6789DE}" destId="{7037056B-52CC-4FAD-A03F-4F4F01AE98E1}" srcOrd="2" destOrd="0" presId="urn:microsoft.com/office/officeart/2005/8/layout/radial1"/>
    <dgm:cxn modelId="{BD01FA45-1AA8-4CC9-AD88-9867A07A644B}" type="presParOf" srcId="{DB004D02-2775-4BAF-BBA6-4987BD6789DE}" destId="{5C3529D7-2F1B-4B87-A66C-26F9560BD84D}" srcOrd="3" destOrd="0" presId="urn:microsoft.com/office/officeart/2005/8/layout/radial1"/>
    <dgm:cxn modelId="{48DCECD6-4893-401F-A005-458165610178}" type="presParOf" srcId="{5C3529D7-2F1B-4B87-A66C-26F9560BD84D}" destId="{9ECF3339-94FA-4488-8720-4DFED5C26DAF}" srcOrd="0" destOrd="0" presId="urn:microsoft.com/office/officeart/2005/8/layout/radial1"/>
    <dgm:cxn modelId="{DD1386FB-5FB1-45B5-A2E0-2BF0D9F73B65}" type="presParOf" srcId="{DB004D02-2775-4BAF-BBA6-4987BD6789DE}" destId="{33AF0487-6B61-4A9B-B199-FFE0E501FF09}" srcOrd="4" destOrd="0" presId="urn:microsoft.com/office/officeart/2005/8/layout/radial1"/>
    <dgm:cxn modelId="{98784E92-400A-4BB1-B56A-5AB25D16C9C0}" type="presParOf" srcId="{DB004D02-2775-4BAF-BBA6-4987BD6789DE}" destId="{6E451E09-B83F-410D-ACC8-D1F61385417A}" srcOrd="5" destOrd="0" presId="urn:microsoft.com/office/officeart/2005/8/layout/radial1"/>
    <dgm:cxn modelId="{DEE08CCD-A245-4332-A094-AF5E5798DFFB}" type="presParOf" srcId="{6E451E09-B83F-410D-ACC8-D1F61385417A}" destId="{F213ECE4-A281-42A5-9F49-825AE59D12ED}" srcOrd="0" destOrd="0" presId="urn:microsoft.com/office/officeart/2005/8/layout/radial1"/>
    <dgm:cxn modelId="{38719CFD-4EDD-463A-A0A4-D07336B435BA}" type="presParOf" srcId="{DB004D02-2775-4BAF-BBA6-4987BD6789DE}" destId="{8FB39EE1-E87B-4B19-B64F-0F14993AA462}" srcOrd="6" destOrd="0" presId="urn:microsoft.com/office/officeart/2005/8/layout/radial1"/>
    <dgm:cxn modelId="{650F210C-D4F9-4AD2-9281-02F7F39B37DC}" type="presParOf" srcId="{DB004D02-2775-4BAF-BBA6-4987BD6789DE}" destId="{EC64CB44-DC6D-49A6-8C30-2FEDCB501185}" srcOrd="7" destOrd="0" presId="urn:microsoft.com/office/officeart/2005/8/layout/radial1"/>
    <dgm:cxn modelId="{27AFB04F-3583-4CC2-B284-BF9E70AAB31A}" type="presParOf" srcId="{EC64CB44-DC6D-49A6-8C30-2FEDCB501185}" destId="{A5C28E8D-5362-466E-BEB8-75EC634BA743}" srcOrd="0" destOrd="0" presId="urn:microsoft.com/office/officeart/2005/8/layout/radial1"/>
    <dgm:cxn modelId="{44F95424-EF8B-4ABC-AE37-4CE3BBD30A40}" type="presParOf" srcId="{DB004D02-2775-4BAF-BBA6-4987BD6789DE}" destId="{75FAEB85-5289-4C05-958C-26CAD9A09341}" srcOrd="8" destOrd="0" presId="urn:microsoft.com/office/officeart/2005/8/layout/radial1"/>
    <dgm:cxn modelId="{6695597E-7AC5-4ACE-AB12-C35F6F6DEFBA}" type="presParOf" srcId="{DB004D02-2775-4BAF-BBA6-4987BD6789DE}" destId="{B29AA07A-2227-4E07-8BF7-C36DAB35F093}" srcOrd="9" destOrd="0" presId="urn:microsoft.com/office/officeart/2005/8/layout/radial1"/>
    <dgm:cxn modelId="{4D9BE0C0-864F-415D-B86E-17D8667DB020}" type="presParOf" srcId="{B29AA07A-2227-4E07-8BF7-C36DAB35F093}" destId="{FF58F6FC-08D9-45D5-B705-F941EBC4AE81}" srcOrd="0" destOrd="0" presId="urn:microsoft.com/office/officeart/2005/8/layout/radial1"/>
    <dgm:cxn modelId="{7E2596F9-F694-4467-9B09-F4956F6CCDFA}" type="presParOf" srcId="{DB004D02-2775-4BAF-BBA6-4987BD6789DE}" destId="{EE82EB00-D12D-49AB-9952-F9BED43C30D5}" srcOrd="10" destOrd="0" presId="urn:microsoft.com/office/officeart/2005/8/layout/radial1"/>
    <dgm:cxn modelId="{873AD0A8-7EEC-41D0-8C7C-7E71A8F6FC86}" type="presParOf" srcId="{DB004D02-2775-4BAF-BBA6-4987BD6789DE}" destId="{FC2C1FB6-82F1-4CFB-A56D-C69D132E8D14}" srcOrd="11" destOrd="0" presId="urn:microsoft.com/office/officeart/2005/8/layout/radial1"/>
    <dgm:cxn modelId="{C55EA068-5712-4A96-9772-E6DD7D881BAE}" type="presParOf" srcId="{FC2C1FB6-82F1-4CFB-A56D-C69D132E8D14}" destId="{7D8D223E-A134-46C7-BBE0-806608FF4F92}" srcOrd="0" destOrd="0" presId="urn:microsoft.com/office/officeart/2005/8/layout/radial1"/>
    <dgm:cxn modelId="{6C7B7DBB-17E8-447E-AA53-BE64F4456F81}" type="presParOf" srcId="{DB004D02-2775-4BAF-BBA6-4987BD6789DE}" destId="{FEFB65E6-4337-483E-B4C6-81F0EF308C56}" srcOrd="12" destOrd="0" presId="urn:microsoft.com/office/officeart/2005/8/layout/radial1"/>
    <dgm:cxn modelId="{DC690140-7A42-4B22-9B2F-7CB396057286}" type="presParOf" srcId="{DB004D02-2775-4BAF-BBA6-4987BD6789DE}" destId="{0B5DD1CE-46FB-4592-B6B4-F7C957122F0D}" srcOrd="13" destOrd="0" presId="urn:microsoft.com/office/officeart/2005/8/layout/radial1"/>
    <dgm:cxn modelId="{7DE22618-DADF-41BA-864D-E26C386E4AE5}" type="presParOf" srcId="{0B5DD1CE-46FB-4592-B6B4-F7C957122F0D}" destId="{52A9142F-BC53-4C4D-91D7-EAF5BED50D44}" srcOrd="0" destOrd="0" presId="urn:microsoft.com/office/officeart/2005/8/layout/radial1"/>
    <dgm:cxn modelId="{25523C3C-CDE7-4B6A-8A7B-475809A8C4F8}" type="presParOf" srcId="{DB004D02-2775-4BAF-BBA6-4987BD6789DE}" destId="{C00842AC-4477-4868-B007-A6629F9EBDAD}" srcOrd="14" destOrd="0" presId="urn:microsoft.com/office/officeart/2005/8/layout/radia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D9275F-8C34-49D7-8452-0F23E6BF711A}" type="doc">
      <dgm:prSet loTypeId="urn:microsoft.com/office/officeart/2005/8/layout/venn1" loCatId="relationship" qsTypeId="urn:microsoft.com/office/officeart/2005/8/quickstyle/simple1" qsCatId="simple" csTypeId="urn:microsoft.com/office/officeart/2005/8/colors/colorful4" csCatId="colorful" phldr="1"/>
      <dgm:spPr/>
      <dgm:t>
        <a:bodyPr/>
        <a:lstStyle/>
        <a:p>
          <a:endParaRPr lang="en-US"/>
        </a:p>
      </dgm:t>
    </dgm:pt>
    <dgm:pt modelId="{F88B24EB-D41A-4F05-8E6D-B7E3C9771621}">
      <dgm:prSet custT="1"/>
      <dgm:spPr/>
      <dgm:t>
        <a:bodyPr/>
        <a:lstStyle/>
        <a:p>
          <a:r>
            <a:rPr lang="en-US" sz="1400" b="1" dirty="0"/>
            <a:t>Assessment Dates</a:t>
          </a:r>
        </a:p>
        <a:p>
          <a:r>
            <a:rPr lang="en-US" sz="1100" dirty="0"/>
            <a:t>Check Assessment Dates</a:t>
          </a:r>
        </a:p>
        <a:p>
          <a:r>
            <a:rPr lang="en-US" sz="1100" dirty="0"/>
            <a:t>19, 24, 34, 49, 54, 69</a:t>
          </a:r>
        </a:p>
      </dgm:t>
    </dgm:pt>
    <dgm:pt modelId="{258B8EDA-A75D-4890-BBB6-4B03CA016234}" type="parTrans" cxnId="{170B5058-D388-4F20-A135-54AF8148FE07}">
      <dgm:prSet/>
      <dgm:spPr/>
      <dgm:t>
        <a:bodyPr/>
        <a:lstStyle/>
        <a:p>
          <a:endParaRPr lang="en-US"/>
        </a:p>
      </dgm:t>
    </dgm:pt>
    <dgm:pt modelId="{1BEC78DC-8674-4C04-B2B8-C5CB6D297F5E}" type="sibTrans" cxnId="{170B5058-D388-4F20-A135-54AF8148FE07}">
      <dgm:prSet/>
      <dgm:spPr/>
      <dgm:t>
        <a:bodyPr/>
        <a:lstStyle/>
        <a:p>
          <a:endParaRPr lang="en-US"/>
        </a:p>
      </dgm:t>
    </dgm:pt>
    <dgm:pt modelId="{9AF5364F-170A-4CA8-A151-0FA682E47B43}">
      <dgm:prSet custT="1"/>
      <dgm:spPr/>
      <dgm:t>
        <a:bodyPr/>
        <a:lstStyle/>
        <a:p>
          <a:r>
            <a:rPr lang="en-US" sz="1400" b="1" dirty="0"/>
            <a:t>Student Credit</a:t>
          </a:r>
        </a:p>
        <a:p>
          <a:r>
            <a:rPr lang="en-US" sz="1100" dirty="0"/>
            <a:t>Highlight Assessments with Highest Credits</a:t>
          </a:r>
        </a:p>
      </dgm:t>
    </dgm:pt>
    <dgm:pt modelId="{D12DF2A5-505D-4A5A-BA8D-8BC4FDBB385B}" type="parTrans" cxnId="{05206BE8-C6AA-4F90-8662-E2B12AC23DC3}">
      <dgm:prSet/>
      <dgm:spPr/>
      <dgm:t>
        <a:bodyPr/>
        <a:lstStyle/>
        <a:p>
          <a:endParaRPr lang="en-US"/>
        </a:p>
      </dgm:t>
    </dgm:pt>
    <dgm:pt modelId="{B5EF59D8-6F83-4E6F-88FF-8D3B9FD0EF0D}" type="sibTrans" cxnId="{05206BE8-C6AA-4F90-8662-E2B12AC23DC3}">
      <dgm:prSet/>
      <dgm:spPr/>
      <dgm:t>
        <a:bodyPr/>
        <a:lstStyle/>
        <a:p>
          <a:endParaRPr lang="en-US"/>
        </a:p>
      </dgm:t>
    </dgm:pt>
    <dgm:pt modelId="{29E717A3-41A8-4A6C-86D2-56A939CBF2D4}">
      <dgm:prSet custT="1"/>
      <dgm:spPr/>
      <dgm:t>
        <a:bodyPr/>
        <a:lstStyle/>
        <a:p>
          <a:r>
            <a:rPr lang="en-US" sz="1400" b="1" dirty="0"/>
            <a:t>Student Score</a:t>
          </a:r>
        </a:p>
        <a:p>
          <a:r>
            <a:rPr lang="en-US" sz="1100" dirty="0"/>
            <a:t>Check Students with Scores Lower than 72</a:t>
          </a:r>
        </a:p>
      </dgm:t>
    </dgm:pt>
    <dgm:pt modelId="{FD095669-ACCD-46CF-A9EE-251F3EFBD83D}" type="parTrans" cxnId="{98E817F8-B374-4C98-A964-92D8C890790D}">
      <dgm:prSet/>
      <dgm:spPr/>
      <dgm:t>
        <a:bodyPr/>
        <a:lstStyle/>
        <a:p>
          <a:endParaRPr lang="en-US"/>
        </a:p>
      </dgm:t>
    </dgm:pt>
    <dgm:pt modelId="{6081D6FF-8A7D-420B-BBCA-AE7E9C685ED0}" type="sibTrans" cxnId="{98E817F8-B374-4C98-A964-92D8C890790D}">
      <dgm:prSet/>
      <dgm:spPr/>
      <dgm:t>
        <a:bodyPr/>
        <a:lstStyle/>
        <a:p>
          <a:endParaRPr lang="en-US"/>
        </a:p>
      </dgm:t>
    </dgm:pt>
    <dgm:pt modelId="{ED51377D-B309-49DE-8B94-B91F47EDB10E}" type="pres">
      <dgm:prSet presAssocID="{E0D9275F-8C34-49D7-8452-0F23E6BF711A}" presName="compositeShape" presStyleCnt="0">
        <dgm:presLayoutVars>
          <dgm:chMax val="7"/>
          <dgm:dir/>
          <dgm:resizeHandles val="exact"/>
        </dgm:presLayoutVars>
      </dgm:prSet>
      <dgm:spPr/>
    </dgm:pt>
    <dgm:pt modelId="{6AC1E122-3F86-4318-BAB0-644B135A87A0}" type="pres">
      <dgm:prSet presAssocID="{F88B24EB-D41A-4F05-8E6D-B7E3C9771621}" presName="circ1" presStyleLbl="vennNode1" presStyleIdx="0" presStyleCnt="3"/>
      <dgm:spPr/>
    </dgm:pt>
    <dgm:pt modelId="{0118141B-86EB-4B2C-9186-E5C1B7BFB734}" type="pres">
      <dgm:prSet presAssocID="{F88B24EB-D41A-4F05-8E6D-B7E3C9771621}" presName="circ1Tx" presStyleLbl="revTx" presStyleIdx="0" presStyleCnt="0">
        <dgm:presLayoutVars>
          <dgm:chMax val="0"/>
          <dgm:chPref val="0"/>
          <dgm:bulletEnabled val="1"/>
        </dgm:presLayoutVars>
      </dgm:prSet>
      <dgm:spPr/>
    </dgm:pt>
    <dgm:pt modelId="{5356132F-3475-491A-8A72-15E1EE744BE8}" type="pres">
      <dgm:prSet presAssocID="{9AF5364F-170A-4CA8-A151-0FA682E47B43}" presName="circ2" presStyleLbl="vennNode1" presStyleIdx="1" presStyleCnt="3"/>
      <dgm:spPr/>
    </dgm:pt>
    <dgm:pt modelId="{37A75372-73FF-45DB-8C34-F5D63888FC7D}" type="pres">
      <dgm:prSet presAssocID="{9AF5364F-170A-4CA8-A151-0FA682E47B43}" presName="circ2Tx" presStyleLbl="revTx" presStyleIdx="0" presStyleCnt="0">
        <dgm:presLayoutVars>
          <dgm:chMax val="0"/>
          <dgm:chPref val="0"/>
          <dgm:bulletEnabled val="1"/>
        </dgm:presLayoutVars>
      </dgm:prSet>
      <dgm:spPr/>
    </dgm:pt>
    <dgm:pt modelId="{8D72A62E-60FB-4E7E-B46F-722727082F4D}" type="pres">
      <dgm:prSet presAssocID="{29E717A3-41A8-4A6C-86D2-56A939CBF2D4}" presName="circ3" presStyleLbl="vennNode1" presStyleIdx="2" presStyleCnt="3"/>
      <dgm:spPr/>
    </dgm:pt>
    <dgm:pt modelId="{4E6D2FBB-79BF-4DBA-A561-AB5DC60649C7}" type="pres">
      <dgm:prSet presAssocID="{29E717A3-41A8-4A6C-86D2-56A939CBF2D4}" presName="circ3Tx" presStyleLbl="revTx" presStyleIdx="0" presStyleCnt="0">
        <dgm:presLayoutVars>
          <dgm:chMax val="0"/>
          <dgm:chPref val="0"/>
          <dgm:bulletEnabled val="1"/>
        </dgm:presLayoutVars>
      </dgm:prSet>
      <dgm:spPr/>
    </dgm:pt>
  </dgm:ptLst>
  <dgm:cxnLst>
    <dgm:cxn modelId="{7906BF23-38FB-43B1-B6F4-84E2128215C2}" type="presOf" srcId="{F88B24EB-D41A-4F05-8E6D-B7E3C9771621}" destId="{0118141B-86EB-4B2C-9186-E5C1B7BFB734}" srcOrd="1" destOrd="0" presId="urn:microsoft.com/office/officeart/2005/8/layout/venn1"/>
    <dgm:cxn modelId="{6BEFE367-4E5C-4495-AB4F-A08EC9323682}" type="presOf" srcId="{9AF5364F-170A-4CA8-A151-0FA682E47B43}" destId="{37A75372-73FF-45DB-8C34-F5D63888FC7D}" srcOrd="1" destOrd="0" presId="urn:microsoft.com/office/officeart/2005/8/layout/venn1"/>
    <dgm:cxn modelId="{74B9F477-F942-427D-AE5A-7FB6595DBEB6}" type="presOf" srcId="{9AF5364F-170A-4CA8-A151-0FA682E47B43}" destId="{5356132F-3475-491A-8A72-15E1EE744BE8}" srcOrd="0" destOrd="0" presId="urn:microsoft.com/office/officeart/2005/8/layout/venn1"/>
    <dgm:cxn modelId="{170B5058-D388-4F20-A135-54AF8148FE07}" srcId="{E0D9275F-8C34-49D7-8452-0F23E6BF711A}" destId="{F88B24EB-D41A-4F05-8E6D-B7E3C9771621}" srcOrd="0" destOrd="0" parTransId="{258B8EDA-A75D-4890-BBB6-4B03CA016234}" sibTransId="{1BEC78DC-8674-4C04-B2B8-C5CB6D297F5E}"/>
    <dgm:cxn modelId="{C04EC096-32CF-4846-B2D5-E7B271D48BED}" type="presOf" srcId="{29E717A3-41A8-4A6C-86D2-56A939CBF2D4}" destId="{8D72A62E-60FB-4E7E-B46F-722727082F4D}" srcOrd="0" destOrd="0" presId="urn:microsoft.com/office/officeart/2005/8/layout/venn1"/>
    <dgm:cxn modelId="{F92ECDA4-C019-42ED-97F5-427DF90095B2}" type="presOf" srcId="{F88B24EB-D41A-4F05-8E6D-B7E3C9771621}" destId="{6AC1E122-3F86-4318-BAB0-644B135A87A0}" srcOrd="0" destOrd="0" presId="urn:microsoft.com/office/officeart/2005/8/layout/venn1"/>
    <dgm:cxn modelId="{9373E3B3-F0A4-47E0-96A4-123D363C7B45}" type="presOf" srcId="{29E717A3-41A8-4A6C-86D2-56A939CBF2D4}" destId="{4E6D2FBB-79BF-4DBA-A561-AB5DC60649C7}" srcOrd="1" destOrd="0" presId="urn:microsoft.com/office/officeart/2005/8/layout/venn1"/>
    <dgm:cxn modelId="{05206BE8-C6AA-4F90-8662-E2B12AC23DC3}" srcId="{E0D9275F-8C34-49D7-8452-0F23E6BF711A}" destId="{9AF5364F-170A-4CA8-A151-0FA682E47B43}" srcOrd="1" destOrd="0" parTransId="{D12DF2A5-505D-4A5A-BA8D-8BC4FDBB385B}" sibTransId="{B5EF59D8-6F83-4E6F-88FF-8D3B9FD0EF0D}"/>
    <dgm:cxn modelId="{1B5425ED-6AF9-4218-8682-F6EFBCBA0401}" type="presOf" srcId="{E0D9275F-8C34-49D7-8452-0F23E6BF711A}" destId="{ED51377D-B309-49DE-8B94-B91F47EDB10E}" srcOrd="0" destOrd="0" presId="urn:microsoft.com/office/officeart/2005/8/layout/venn1"/>
    <dgm:cxn modelId="{98E817F8-B374-4C98-A964-92D8C890790D}" srcId="{E0D9275F-8C34-49D7-8452-0F23E6BF711A}" destId="{29E717A3-41A8-4A6C-86D2-56A939CBF2D4}" srcOrd="2" destOrd="0" parTransId="{FD095669-ACCD-46CF-A9EE-251F3EFBD83D}" sibTransId="{6081D6FF-8A7D-420B-BBCA-AE7E9C685ED0}"/>
    <dgm:cxn modelId="{B3D19F47-C1CC-411F-963F-6EE910E4ABF8}" type="presParOf" srcId="{ED51377D-B309-49DE-8B94-B91F47EDB10E}" destId="{6AC1E122-3F86-4318-BAB0-644B135A87A0}" srcOrd="0" destOrd="0" presId="urn:microsoft.com/office/officeart/2005/8/layout/venn1"/>
    <dgm:cxn modelId="{3EE4758F-CEAE-479A-9DA6-44269E2D2968}" type="presParOf" srcId="{ED51377D-B309-49DE-8B94-B91F47EDB10E}" destId="{0118141B-86EB-4B2C-9186-E5C1B7BFB734}" srcOrd="1" destOrd="0" presId="urn:microsoft.com/office/officeart/2005/8/layout/venn1"/>
    <dgm:cxn modelId="{F1A7E78E-E14F-4A08-AE1B-4A725D1DD5D2}" type="presParOf" srcId="{ED51377D-B309-49DE-8B94-B91F47EDB10E}" destId="{5356132F-3475-491A-8A72-15E1EE744BE8}" srcOrd="2" destOrd="0" presId="urn:microsoft.com/office/officeart/2005/8/layout/venn1"/>
    <dgm:cxn modelId="{341B6155-6AA2-4003-9C29-A7852F811DDD}" type="presParOf" srcId="{ED51377D-B309-49DE-8B94-B91F47EDB10E}" destId="{37A75372-73FF-45DB-8C34-F5D63888FC7D}" srcOrd="3" destOrd="0" presId="urn:microsoft.com/office/officeart/2005/8/layout/venn1"/>
    <dgm:cxn modelId="{0A5C7AE1-3365-41D1-8924-02AD9B21E36D}" type="presParOf" srcId="{ED51377D-B309-49DE-8B94-B91F47EDB10E}" destId="{8D72A62E-60FB-4E7E-B46F-722727082F4D}" srcOrd="4" destOrd="0" presId="urn:microsoft.com/office/officeart/2005/8/layout/venn1"/>
    <dgm:cxn modelId="{6BDC1A72-B42C-4CC4-AA84-226F17F0E01F}" type="presParOf" srcId="{ED51377D-B309-49DE-8B94-B91F47EDB10E}" destId="{4E6D2FBB-79BF-4DBA-A561-AB5DC60649C7}"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4D4762-D9FA-4840-AC81-8C92F8EBF886}" type="doc">
      <dgm:prSet loTypeId="urn:microsoft.com/office/officeart/2005/8/layout/radial1" loCatId="cycle" qsTypeId="urn:microsoft.com/office/officeart/2005/8/quickstyle/simple1" qsCatId="simple" csTypeId="urn:microsoft.com/office/officeart/2005/8/colors/colorful4" csCatId="colorful"/>
      <dgm:spPr/>
      <dgm:t>
        <a:bodyPr/>
        <a:lstStyle/>
        <a:p>
          <a:endParaRPr lang="en-US"/>
        </a:p>
      </dgm:t>
    </dgm:pt>
    <dgm:pt modelId="{95174543-BDFB-42A3-8E4D-3885A35D651B}">
      <dgm:prSet/>
      <dgm:spPr/>
      <dgm:t>
        <a:bodyPr/>
        <a:lstStyle/>
        <a:p>
          <a:r>
            <a:rPr lang="en-US"/>
            <a:t>Support</a:t>
          </a:r>
        </a:p>
      </dgm:t>
    </dgm:pt>
    <dgm:pt modelId="{7E845E9F-54FC-4EDC-ADDD-B301B89E9359}" type="parTrans" cxnId="{BEDEB992-CBD2-4DA1-B087-2C5BB259449D}">
      <dgm:prSet/>
      <dgm:spPr/>
      <dgm:t>
        <a:bodyPr/>
        <a:lstStyle/>
        <a:p>
          <a:endParaRPr lang="en-US"/>
        </a:p>
      </dgm:t>
    </dgm:pt>
    <dgm:pt modelId="{6AD88A4C-6F66-45C6-8523-50D1BBC6AEFB}" type="sibTrans" cxnId="{BEDEB992-CBD2-4DA1-B087-2C5BB259449D}">
      <dgm:prSet/>
      <dgm:spPr/>
      <dgm:t>
        <a:bodyPr/>
        <a:lstStyle/>
        <a:p>
          <a:endParaRPr lang="en-US"/>
        </a:p>
      </dgm:t>
    </dgm:pt>
    <dgm:pt modelId="{18672349-4956-402E-B41C-25CAC7E51C07}">
      <dgm:prSet/>
      <dgm:spPr/>
      <dgm:t>
        <a:bodyPr/>
        <a:lstStyle/>
        <a:p>
          <a:r>
            <a:rPr lang="en-US"/>
            <a:t>IMD 10-20% Students, </a:t>
          </a:r>
        </a:p>
      </dgm:t>
    </dgm:pt>
    <dgm:pt modelId="{FA58750B-904C-4331-BB37-0484509ECD73}" type="parTrans" cxnId="{DB5D4A24-C671-4545-9732-92F246CEFBBE}">
      <dgm:prSet/>
      <dgm:spPr/>
      <dgm:t>
        <a:bodyPr/>
        <a:lstStyle/>
        <a:p>
          <a:endParaRPr lang="en-US"/>
        </a:p>
      </dgm:t>
    </dgm:pt>
    <dgm:pt modelId="{BD69C4C4-E139-46F2-928C-48C901CD82BC}" type="sibTrans" cxnId="{DB5D4A24-C671-4545-9732-92F246CEFBBE}">
      <dgm:prSet/>
      <dgm:spPr/>
      <dgm:t>
        <a:bodyPr/>
        <a:lstStyle/>
        <a:p>
          <a:endParaRPr lang="en-US"/>
        </a:p>
      </dgm:t>
    </dgm:pt>
    <dgm:pt modelId="{3CA44982-ACB9-43AD-B645-E228784E84BD}">
      <dgm:prSet/>
      <dgm:spPr/>
      <dgm:t>
        <a:bodyPr/>
        <a:lstStyle/>
        <a:p>
          <a:r>
            <a:rPr lang="en-US"/>
            <a:t>IMD 30-40% Students, </a:t>
          </a:r>
        </a:p>
      </dgm:t>
    </dgm:pt>
    <dgm:pt modelId="{1EDF0201-0A7E-43D9-BCBE-8944B2B2976C}" type="parTrans" cxnId="{0AE9C341-6900-4BBA-ABFC-56491F3865F8}">
      <dgm:prSet/>
      <dgm:spPr/>
      <dgm:t>
        <a:bodyPr/>
        <a:lstStyle/>
        <a:p>
          <a:endParaRPr lang="en-US"/>
        </a:p>
      </dgm:t>
    </dgm:pt>
    <dgm:pt modelId="{CC8906D8-40F4-4356-A123-D7ACF6260211}" type="sibTrans" cxnId="{0AE9C341-6900-4BBA-ABFC-56491F3865F8}">
      <dgm:prSet/>
      <dgm:spPr/>
      <dgm:t>
        <a:bodyPr/>
        <a:lstStyle/>
        <a:p>
          <a:endParaRPr lang="en-US"/>
        </a:p>
      </dgm:t>
    </dgm:pt>
    <dgm:pt modelId="{CA5D53BC-5C9B-4981-928A-130F3B8B604E}">
      <dgm:prSet/>
      <dgm:spPr/>
      <dgm:t>
        <a:bodyPr/>
        <a:lstStyle/>
        <a:p>
          <a:r>
            <a:rPr lang="en-US"/>
            <a:t>Students with Highest Education Lower than A Level</a:t>
          </a:r>
        </a:p>
      </dgm:t>
    </dgm:pt>
    <dgm:pt modelId="{27662CEF-C952-4E76-AEBE-DA3F6B2FDEF7}" type="parTrans" cxnId="{A4E3D1F3-F2F3-412C-B787-692E8D8F71F5}">
      <dgm:prSet/>
      <dgm:spPr/>
      <dgm:t>
        <a:bodyPr/>
        <a:lstStyle/>
        <a:p>
          <a:endParaRPr lang="en-US"/>
        </a:p>
      </dgm:t>
    </dgm:pt>
    <dgm:pt modelId="{6105D977-8208-421B-A74C-6B0082440CE2}" type="sibTrans" cxnId="{A4E3D1F3-F2F3-412C-B787-692E8D8F71F5}">
      <dgm:prSet/>
      <dgm:spPr/>
      <dgm:t>
        <a:bodyPr/>
        <a:lstStyle/>
        <a:p>
          <a:endParaRPr lang="en-US"/>
        </a:p>
      </dgm:t>
    </dgm:pt>
    <dgm:pt modelId="{68E37F5B-FC5F-475D-A5E3-2E8289F13319}">
      <dgm:prSet/>
      <dgm:spPr/>
      <dgm:t>
        <a:bodyPr/>
        <a:lstStyle/>
        <a:p>
          <a:r>
            <a:rPr lang="en-US"/>
            <a:t>Students with Highest Education HE Qualification</a:t>
          </a:r>
        </a:p>
      </dgm:t>
    </dgm:pt>
    <dgm:pt modelId="{273123C8-9E4D-4AE5-8DBD-389B28E554C7}" type="parTrans" cxnId="{8546F99E-ED9C-4ECE-8579-3AF63D4FC11A}">
      <dgm:prSet/>
      <dgm:spPr/>
      <dgm:t>
        <a:bodyPr/>
        <a:lstStyle/>
        <a:p>
          <a:endParaRPr lang="en-US"/>
        </a:p>
      </dgm:t>
    </dgm:pt>
    <dgm:pt modelId="{E2E2B56D-CC0B-4F4A-9E0D-6DB929DC2FAF}" type="sibTrans" cxnId="{8546F99E-ED9C-4ECE-8579-3AF63D4FC11A}">
      <dgm:prSet/>
      <dgm:spPr/>
      <dgm:t>
        <a:bodyPr/>
        <a:lstStyle/>
        <a:p>
          <a:endParaRPr lang="en-US"/>
        </a:p>
      </dgm:t>
    </dgm:pt>
    <dgm:pt modelId="{91BA4F07-89B8-425E-861D-CDF3BA96A8AC}">
      <dgm:prSet/>
      <dgm:spPr/>
      <dgm:t>
        <a:bodyPr/>
        <a:lstStyle/>
        <a:p>
          <a:r>
            <a:rPr lang="en-US"/>
            <a:t>Students from South West Region</a:t>
          </a:r>
        </a:p>
      </dgm:t>
    </dgm:pt>
    <dgm:pt modelId="{22612280-E750-40C9-B510-41371C890363}" type="parTrans" cxnId="{C49473C1-D600-42B9-ABB0-908B77EBC55B}">
      <dgm:prSet/>
      <dgm:spPr/>
      <dgm:t>
        <a:bodyPr/>
        <a:lstStyle/>
        <a:p>
          <a:endParaRPr lang="en-US"/>
        </a:p>
      </dgm:t>
    </dgm:pt>
    <dgm:pt modelId="{6C320685-9B62-464F-8453-DF02D8C60279}" type="sibTrans" cxnId="{C49473C1-D600-42B9-ABB0-908B77EBC55B}">
      <dgm:prSet/>
      <dgm:spPr/>
      <dgm:t>
        <a:bodyPr/>
        <a:lstStyle/>
        <a:p>
          <a:endParaRPr lang="en-US"/>
        </a:p>
      </dgm:t>
    </dgm:pt>
    <dgm:pt modelId="{78D53742-EBB0-49C8-B970-D64988C13172}">
      <dgm:prSet/>
      <dgm:spPr/>
      <dgm:t>
        <a:bodyPr/>
        <a:lstStyle/>
        <a:p>
          <a:r>
            <a:rPr lang="en-US"/>
            <a:t>Male Students </a:t>
          </a:r>
        </a:p>
      </dgm:t>
    </dgm:pt>
    <dgm:pt modelId="{29F1C924-1B60-4C6B-BFC8-136272F9C388}" type="parTrans" cxnId="{2DFF3A03-28F5-4A92-BCA9-A1B9AEE55BB7}">
      <dgm:prSet/>
      <dgm:spPr/>
      <dgm:t>
        <a:bodyPr/>
        <a:lstStyle/>
        <a:p>
          <a:endParaRPr lang="en-US"/>
        </a:p>
      </dgm:t>
    </dgm:pt>
    <dgm:pt modelId="{838C2E28-8F02-4374-A0FB-760464BABA37}" type="sibTrans" cxnId="{2DFF3A03-28F5-4A92-BCA9-A1B9AEE55BB7}">
      <dgm:prSet/>
      <dgm:spPr/>
      <dgm:t>
        <a:bodyPr/>
        <a:lstStyle/>
        <a:p>
          <a:endParaRPr lang="en-US"/>
        </a:p>
      </dgm:t>
    </dgm:pt>
    <dgm:pt modelId="{4F34F545-4943-41DB-A6FB-1B6ADFE802B2}">
      <dgm:prSet/>
      <dgm:spPr/>
      <dgm:t>
        <a:bodyPr/>
        <a:lstStyle/>
        <a:p>
          <a:r>
            <a:rPr lang="en-US"/>
            <a:t>Students with Previous Attempts for Class</a:t>
          </a:r>
        </a:p>
      </dgm:t>
    </dgm:pt>
    <dgm:pt modelId="{1334422C-D431-4673-83A7-4EFEDF9D2E6A}" type="parTrans" cxnId="{03E8DD6C-E3E6-497A-A8A0-2F72FB17E010}">
      <dgm:prSet/>
      <dgm:spPr/>
      <dgm:t>
        <a:bodyPr/>
        <a:lstStyle/>
        <a:p>
          <a:endParaRPr lang="en-US"/>
        </a:p>
      </dgm:t>
    </dgm:pt>
    <dgm:pt modelId="{C635A0BE-0F60-4AD7-9E4B-6F39704166B9}" type="sibTrans" cxnId="{03E8DD6C-E3E6-497A-A8A0-2F72FB17E010}">
      <dgm:prSet/>
      <dgm:spPr/>
      <dgm:t>
        <a:bodyPr/>
        <a:lstStyle/>
        <a:p>
          <a:endParaRPr lang="en-US"/>
        </a:p>
      </dgm:t>
    </dgm:pt>
    <dgm:pt modelId="{DB004D02-2775-4BAF-BBA6-4987BD6789DE}" type="pres">
      <dgm:prSet presAssocID="{034D4762-D9FA-4840-AC81-8C92F8EBF886}" presName="cycle" presStyleCnt="0">
        <dgm:presLayoutVars>
          <dgm:chMax val="1"/>
          <dgm:dir/>
          <dgm:animLvl val="ctr"/>
          <dgm:resizeHandles val="exact"/>
        </dgm:presLayoutVars>
      </dgm:prSet>
      <dgm:spPr/>
    </dgm:pt>
    <dgm:pt modelId="{C421EC6E-1AD9-439F-B6E5-437C5F0086BD}" type="pres">
      <dgm:prSet presAssocID="{95174543-BDFB-42A3-8E4D-3885A35D651B}" presName="centerShape" presStyleLbl="node0" presStyleIdx="0" presStyleCnt="1"/>
      <dgm:spPr/>
    </dgm:pt>
    <dgm:pt modelId="{5B85DA2D-8A52-436E-B810-B4B36B7B4453}" type="pres">
      <dgm:prSet presAssocID="{FA58750B-904C-4331-BB37-0484509ECD73}" presName="Name9" presStyleLbl="parChTrans1D2" presStyleIdx="0" presStyleCnt="7"/>
      <dgm:spPr/>
    </dgm:pt>
    <dgm:pt modelId="{6B2BE7C0-FF9C-402E-9DF9-0F80E896E669}" type="pres">
      <dgm:prSet presAssocID="{FA58750B-904C-4331-BB37-0484509ECD73}" presName="connTx" presStyleLbl="parChTrans1D2" presStyleIdx="0" presStyleCnt="7"/>
      <dgm:spPr/>
    </dgm:pt>
    <dgm:pt modelId="{7037056B-52CC-4FAD-A03F-4F4F01AE98E1}" type="pres">
      <dgm:prSet presAssocID="{18672349-4956-402E-B41C-25CAC7E51C07}" presName="node" presStyleLbl="node1" presStyleIdx="0" presStyleCnt="7">
        <dgm:presLayoutVars>
          <dgm:bulletEnabled val="1"/>
        </dgm:presLayoutVars>
      </dgm:prSet>
      <dgm:spPr/>
    </dgm:pt>
    <dgm:pt modelId="{5C3529D7-2F1B-4B87-A66C-26F9560BD84D}" type="pres">
      <dgm:prSet presAssocID="{1EDF0201-0A7E-43D9-BCBE-8944B2B2976C}" presName="Name9" presStyleLbl="parChTrans1D2" presStyleIdx="1" presStyleCnt="7"/>
      <dgm:spPr/>
    </dgm:pt>
    <dgm:pt modelId="{9ECF3339-94FA-4488-8720-4DFED5C26DAF}" type="pres">
      <dgm:prSet presAssocID="{1EDF0201-0A7E-43D9-BCBE-8944B2B2976C}" presName="connTx" presStyleLbl="parChTrans1D2" presStyleIdx="1" presStyleCnt="7"/>
      <dgm:spPr/>
    </dgm:pt>
    <dgm:pt modelId="{33AF0487-6B61-4A9B-B199-FFE0E501FF09}" type="pres">
      <dgm:prSet presAssocID="{3CA44982-ACB9-43AD-B645-E228784E84BD}" presName="node" presStyleLbl="node1" presStyleIdx="1" presStyleCnt="7">
        <dgm:presLayoutVars>
          <dgm:bulletEnabled val="1"/>
        </dgm:presLayoutVars>
      </dgm:prSet>
      <dgm:spPr/>
    </dgm:pt>
    <dgm:pt modelId="{6E451E09-B83F-410D-ACC8-D1F61385417A}" type="pres">
      <dgm:prSet presAssocID="{27662CEF-C952-4E76-AEBE-DA3F6B2FDEF7}" presName="Name9" presStyleLbl="parChTrans1D2" presStyleIdx="2" presStyleCnt="7"/>
      <dgm:spPr/>
    </dgm:pt>
    <dgm:pt modelId="{F213ECE4-A281-42A5-9F49-825AE59D12ED}" type="pres">
      <dgm:prSet presAssocID="{27662CEF-C952-4E76-AEBE-DA3F6B2FDEF7}" presName="connTx" presStyleLbl="parChTrans1D2" presStyleIdx="2" presStyleCnt="7"/>
      <dgm:spPr/>
    </dgm:pt>
    <dgm:pt modelId="{8FB39EE1-E87B-4B19-B64F-0F14993AA462}" type="pres">
      <dgm:prSet presAssocID="{CA5D53BC-5C9B-4981-928A-130F3B8B604E}" presName="node" presStyleLbl="node1" presStyleIdx="2" presStyleCnt="7">
        <dgm:presLayoutVars>
          <dgm:bulletEnabled val="1"/>
        </dgm:presLayoutVars>
      </dgm:prSet>
      <dgm:spPr/>
    </dgm:pt>
    <dgm:pt modelId="{EC64CB44-DC6D-49A6-8C30-2FEDCB501185}" type="pres">
      <dgm:prSet presAssocID="{273123C8-9E4D-4AE5-8DBD-389B28E554C7}" presName="Name9" presStyleLbl="parChTrans1D2" presStyleIdx="3" presStyleCnt="7"/>
      <dgm:spPr/>
    </dgm:pt>
    <dgm:pt modelId="{A5C28E8D-5362-466E-BEB8-75EC634BA743}" type="pres">
      <dgm:prSet presAssocID="{273123C8-9E4D-4AE5-8DBD-389B28E554C7}" presName="connTx" presStyleLbl="parChTrans1D2" presStyleIdx="3" presStyleCnt="7"/>
      <dgm:spPr/>
    </dgm:pt>
    <dgm:pt modelId="{75FAEB85-5289-4C05-958C-26CAD9A09341}" type="pres">
      <dgm:prSet presAssocID="{68E37F5B-FC5F-475D-A5E3-2E8289F13319}" presName="node" presStyleLbl="node1" presStyleIdx="3" presStyleCnt="7">
        <dgm:presLayoutVars>
          <dgm:bulletEnabled val="1"/>
        </dgm:presLayoutVars>
      </dgm:prSet>
      <dgm:spPr/>
    </dgm:pt>
    <dgm:pt modelId="{B29AA07A-2227-4E07-8BF7-C36DAB35F093}" type="pres">
      <dgm:prSet presAssocID="{22612280-E750-40C9-B510-41371C890363}" presName="Name9" presStyleLbl="parChTrans1D2" presStyleIdx="4" presStyleCnt="7"/>
      <dgm:spPr/>
    </dgm:pt>
    <dgm:pt modelId="{FF58F6FC-08D9-45D5-B705-F941EBC4AE81}" type="pres">
      <dgm:prSet presAssocID="{22612280-E750-40C9-B510-41371C890363}" presName="connTx" presStyleLbl="parChTrans1D2" presStyleIdx="4" presStyleCnt="7"/>
      <dgm:spPr/>
    </dgm:pt>
    <dgm:pt modelId="{EE82EB00-D12D-49AB-9952-F9BED43C30D5}" type="pres">
      <dgm:prSet presAssocID="{91BA4F07-89B8-425E-861D-CDF3BA96A8AC}" presName="node" presStyleLbl="node1" presStyleIdx="4" presStyleCnt="7">
        <dgm:presLayoutVars>
          <dgm:bulletEnabled val="1"/>
        </dgm:presLayoutVars>
      </dgm:prSet>
      <dgm:spPr/>
    </dgm:pt>
    <dgm:pt modelId="{FC2C1FB6-82F1-4CFB-A56D-C69D132E8D14}" type="pres">
      <dgm:prSet presAssocID="{29F1C924-1B60-4C6B-BFC8-136272F9C388}" presName="Name9" presStyleLbl="parChTrans1D2" presStyleIdx="5" presStyleCnt="7"/>
      <dgm:spPr/>
    </dgm:pt>
    <dgm:pt modelId="{7D8D223E-A134-46C7-BBE0-806608FF4F92}" type="pres">
      <dgm:prSet presAssocID="{29F1C924-1B60-4C6B-BFC8-136272F9C388}" presName="connTx" presStyleLbl="parChTrans1D2" presStyleIdx="5" presStyleCnt="7"/>
      <dgm:spPr/>
    </dgm:pt>
    <dgm:pt modelId="{FEFB65E6-4337-483E-B4C6-81F0EF308C56}" type="pres">
      <dgm:prSet presAssocID="{78D53742-EBB0-49C8-B970-D64988C13172}" presName="node" presStyleLbl="node1" presStyleIdx="5" presStyleCnt="7">
        <dgm:presLayoutVars>
          <dgm:bulletEnabled val="1"/>
        </dgm:presLayoutVars>
      </dgm:prSet>
      <dgm:spPr/>
    </dgm:pt>
    <dgm:pt modelId="{0B5DD1CE-46FB-4592-B6B4-F7C957122F0D}" type="pres">
      <dgm:prSet presAssocID="{1334422C-D431-4673-83A7-4EFEDF9D2E6A}" presName="Name9" presStyleLbl="parChTrans1D2" presStyleIdx="6" presStyleCnt="7"/>
      <dgm:spPr/>
    </dgm:pt>
    <dgm:pt modelId="{52A9142F-BC53-4C4D-91D7-EAF5BED50D44}" type="pres">
      <dgm:prSet presAssocID="{1334422C-D431-4673-83A7-4EFEDF9D2E6A}" presName="connTx" presStyleLbl="parChTrans1D2" presStyleIdx="6" presStyleCnt="7"/>
      <dgm:spPr/>
    </dgm:pt>
    <dgm:pt modelId="{C00842AC-4477-4868-B007-A6629F9EBDAD}" type="pres">
      <dgm:prSet presAssocID="{4F34F545-4943-41DB-A6FB-1B6ADFE802B2}" presName="node" presStyleLbl="node1" presStyleIdx="6" presStyleCnt="7">
        <dgm:presLayoutVars>
          <dgm:bulletEnabled val="1"/>
        </dgm:presLayoutVars>
      </dgm:prSet>
      <dgm:spPr/>
    </dgm:pt>
  </dgm:ptLst>
  <dgm:cxnLst>
    <dgm:cxn modelId="{B83D6D00-57F5-4586-8013-C22A091721CC}" type="presOf" srcId="{1EDF0201-0A7E-43D9-BCBE-8944B2B2976C}" destId="{9ECF3339-94FA-4488-8720-4DFED5C26DAF}" srcOrd="1" destOrd="0" presId="urn:microsoft.com/office/officeart/2005/8/layout/radial1"/>
    <dgm:cxn modelId="{2DFF3A03-28F5-4A92-BCA9-A1B9AEE55BB7}" srcId="{95174543-BDFB-42A3-8E4D-3885A35D651B}" destId="{78D53742-EBB0-49C8-B970-D64988C13172}" srcOrd="5" destOrd="0" parTransId="{29F1C924-1B60-4C6B-BFC8-136272F9C388}" sibTransId="{838C2E28-8F02-4374-A0FB-760464BABA37}"/>
    <dgm:cxn modelId="{3BCEA504-9544-48FC-88E2-15ACDE4F1342}" type="presOf" srcId="{273123C8-9E4D-4AE5-8DBD-389B28E554C7}" destId="{EC64CB44-DC6D-49A6-8C30-2FEDCB501185}" srcOrd="0" destOrd="0" presId="urn:microsoft.com/office/officeart/2005/8/layout/radial1"/>
    <dgm:cxn modelId="{FF15B706-FF53-4D4D-B111-91E8D6D0BB8A}" type="presOf" srcId="{22612280-E750-40C9-B510-41371C890363}" destId="{B29AA07A-2227-4E07-8BF7-C36DAB35F093}" srcOrd="0" destOrd="0" presId="urn:microsoft.com/office/officeart/2005/8/layout/radial1"/>
    <dgm:cxn modelId="{0DD90E14-85FD-4819-A596-285A99A6FD07}" type="presOf" srcId="{29F1C924-1B60-4C6B-BFC8-136272F9C388}" destId="{FC2C1FB6-82F1-4CFB-A56D-C69D132E8D14}" srcOrd="0" destOrd="0" presId="urn:microsoft.com/office/officeart/2005/8/layout/radial1"/>
    <dgm:cxn modelId="{3705A914-66F1-4FE8-8313-EC498307C7AB}" type="presOf" srcId="{18672349-4956-402E-B41C-25CAC7E51C07}" destId="{7037056B-52CC-4FAD-A03F-4F4F01AE98E1}" srcOrd="0" destOrd="0" presId="urn:microsoft.com/office/officeart/2005/8/layout/radial1"/>
    <dgm:cxn modelId="{54C80315-878D-4E36-94ED-D7BCC0DA5AB7}" type="presOf" srcId="{1EDF0201-0A7E-43D9-BCBE-8944B2B2976C}" destId="{5C3529D7-2F1B-4B87-A66C-26F9560BD84D}" srcOrd="0" destOrd="0" presId="urn:microsoft.com/office/officeart/2005/8/layout/radial1"/>
    <dgm:cxn modelId="{DB5D4A24-C671-4545-9732-92F246CEFBBE}" srcId="{95174543-BDFB-42A3-8E4D-3885A35D651B}" destId="{18672349-4956-402E-B41C-25CAC7E51C07}" srcOrd="0" destOrd="0" parTransId="{FA58750B-904C-4331-BB37-0484509ECD73}" sibTransId="{BD69C4C4-E139-46F2-928C-48C901CD82BC}"/>
    <dgm:cxn modelId="{35C0A028-C312-4E15-AD7A-6A12956D63CE}" type="presOf" srcId="{22612280-E750-40C9-B510-41371C890363}" destId="{FF58F6FC-08D9-45D5-B705-F941EBC4AE81}" srcOrd="1" destOrd="0" presId="urn:microsoft.com/office/officeart/2005/8/layout/radial1"/>
    <dgm:cxn modelId="{818F1430-4CFC-4FA5-B91D-00859EF32703}" type="presOf" srcId="{1334422C-D431-4673-83A7-4EFEDF9D2E6A}" destId="{52A9142F-BC53-4C4D-91D7-EAF5BED50D44}" srcOrd="1" destOrd="0" presId="urn:microsoft.com/office/officeart/2005/8/layout/radial1"/>
    <dgm:cxn modelId="{C84DA55F-DE66-42C7-8BBA-518B9712E186}" type="presOf" srcId="{27662CEF-C952-4E76-AEBE-DA3F6B2FDEF7}" destId="{F213ECE4-A281-42A5-9F49-825AE59D12ED}" srcOrd="1" destOrd="0" presId="urn:microsoft.com/office/officeart/2005/8/layout/radial1"/>
    <dgm:cxn modelId="{89035F41-37DF-4805-8B4E-7FDC45DF50C2}" type="presOf" srcId="{FA58750B-904C-4331-BB37-0484509ECD73}" destId="{6B2BE7C0-FF9C-402E-9DF9-0F80E896E669}" srcOrd="1" destOrd="0" presId="urn:microsoft.com/office/officeart/2005/8/layout/radial1"/>
    <dgm:cxn modelId="{0AE9C341-6900-4BBA-ABFC-56491F3865F8}" srcId="{95174543-BDFB-42A3-8E4D-3885A35D651B}" destId="{3CA44982-ACB9-43AD-B645-E228784E84BD}" srcOrd="1" destOrd="0" parTransId="{1EDF0201-0A7E-43D9-BCBE-8944B2B2976C}" sibTransId="{CC8906D8-40F4-4356-A123-D7ACF6260211}"/>
    <dgm:cxn modelId="{95B1D142-D575-4297-A1B5-A814891E51C2}" type="presOf" srcId="{4F34F545-4943-41DB-A6FB-1B6ADFE802B2}" destId="{C00842AC-4477-4868-B007-A6629F9EBDAD}" srcOrd="0" destOrd="0" presId="urn:microsoft.com/office/officeart/2005/8/layout/radial1"/>
    <dgm:cxn modelId="{60259467-5487-41B1-985A-B66B3F87D53A}" type="presOf" srcId="{29F1C924-1B60-4C6B-BFC8-136272F9C388}" destId="{7D8D223E-A134-46C7-BBE0-806608FF4F92}" srcOrd="1" destOrd="0" presId="urn:microsoft.com/office/officeart/2005/8/layout/radial1"/>
    <dgm:cxn modelId="{03E8DD6C-E3E6-497A-A8A0-2F72FB17E010}" srcId="{95174543-BDFB-42A3-8E4D-3885A35D651B}" destId="{4F34F545-4943-41DB-A6FB-1B6ADFE802B2}" srcOrd="6" destOrd="0" parTransId="{1334422C-D431-4673-83A7-4EFEDF9D2E6A}" sibTransId="{C635A0BE-0F60-4AD7-9E4B-6F39704166B9}"/>
    <dgm:cxn modelId="{998E164F-BBBC-4992-8642-02CD74FD4A35}" type="presOf" srcId="{91BA4F07-89B8-425E-861D-CDF3BA96A8AC}" destId="{EE82EB00-D12D-49AB-9952-F9BED43C30D5}" srcOrd="0" destOrd="0" presId="urn:microsoft.com/office/officeart/2005/8/layout/radial1"/>
    <dgm:cxn modelId="{AB0B9252-7C16-4066-9E71-D1B7BB8117AC}" type="presOf" srcId="{FA58750B-904C-4331-BB37-0484509ECD73}" destId="{5B85DA2D-8A52-436E-B810-B4B36B7B4453}" srcOrd="0" destOrd="0" presId="urn:microsoft.com/office/officeart/2005/8/layout/radial1"/>
    <dgm:cxn modelId="{886C337A-8BC6-4796-8105-CBE7B8CE2A02}" type="presOf" srcId="{1334422C-D431-4673-83A7-4EFEDF9D2E6A}" destId="{0B5DD1CE-46FB-4592-B6B4-F7C957122F0D}" srcOrd="0" destOrd="0" presId="urn:microsoft.com/office/officeart/2005/8/layout/radial1"/>
    <dgm:cxn modelId="{4905F083-05EC-4B08-A92E-DD549548BFB7}" type="presOf" srcId="{95174543-BDFB-42A3-8E4D-3885A35D651B}" destId="{C421EC6E-1AD9-439F-B6E5-437C5F0086BD}" srcOrd="0" destOrd="0" presId="urn:microsoft.com/office/officeart/2005/8/layout/radial1"/>
    <dgm:cxn modelId="{0AC38290-B1F9-4777-B65C-C0FBFDD53F39}" type="presOf" srcId="{68E37F5B-FC5F-475D-A5E3-2E8289F13319}" destId="{75FAEB85-5289-4C05-958C-26CAD9A09341}" srcOrd="0" destOrd="0" presId="urn:microsoft.com/office/officeart/2005/8/layout/radial1"/>
    <dgm:cxn modelId="{BEDEB992-CBD2-4DA1-B087-2C5BB259449D}" srcId="{034D4762-D9FA-4840-AC81-8C92F8EBF886}" destId="{95174543-BDFB-42A3-8E4D-3885A35D651B}" srcOrd="0" destOrd="0" parTransId="{7E845E9F-54FC-4EDC-ADDD-B301B89E9359}" sibTransId="{6AD88A4C-6F66-45C6-8523-50D1BBC6AEFB}"/>
    <dgm:cxn modelId="{2F870396-3668-4625-AFC9-63D60E26194A}" type="presOf" srcId="{27662CEF-C952-4E76-AEBE-DA3F6B2FDEF7}" destId="{6E451E09-B83F-410D-ACC8-D1F61385417A}" srcOrd="0" destOrd="0" presId="urn:microsoft.com/office/officeart/2005/8/layout/radial1"/>
    <dgm:cxn modelId="{2D9A0F9E-4E4D-44C5-A189-13C146D80CD2}" type="presOf" srcId="{034D4762-D9FA-4840-AC81-8C92F8EBF886}" destId="{DB004D02-2775-4BAF-BBA6-4987BD6789DE}" srcOrd="0" destOrd="0" presId="urn:microsoft.com/office/officeart/2005/8/layout/radial1"/>
    <dgm:cxn modelId="{8546F99E-ED9C-4ECE-8579-3AF63D4FC11A}" srcId="{95174543-BDFB-42A3-8E4D-3885A35D651B}" destId="{68E37F5B-FC5F-475D-A5E3-2E8289F13319}" srcOrd="3" destOrd="0" parTransId="{273123C8-9E4D-4AE5-8DBD-389B28E554C7}" sibTransId="{E2E2B56D-CC0B-4F4A-9E0D-6DB929DC2FAF}"/>
    <dgm:cxn modelId="{C49473C1-D600-42B9-ABB0-908B77EBC55B}" srcId="{95174543-BDFB-42A3-8E4D-3885A35D651B}" destId="{91BA4F07-89B8-425E-861D-CDF3BA96A8AC}" srcOrd="4" destOrd="0" parTransId="{22612280-E750-40C9-B510-41371C890363}" sibTransId="{6C320685-9B62-464F-8453-DF02D8C60279}"/>
    <dgm:cxn modelId="{3DA48DCA-5817-49F8-898E-00D8F4CA8836}" type="presOf" srcId="{273123C8-9E4D-4AE5-8DBD-389B28E554C7}" destId="{A5C28E8D-5362-466E-BEB8-75EC634BA743}" srcOrd="1" destOrd="0" presId="urn:microsoft.com/office/officeart/2005/8/layout/radial1"/>
    <dgm:cxn modelId="{59C219CE-958B-46F4-AFA8-2395E403E231}" type="presOf" srcId="{3CA44982-ACB9-43AD-B645-E228784E84BD}" destId="{33AF0487-6B61-4A9B-B199-FFE0E501FF09}" srcOrd="0" destOrd="0" presId="urn:microsoft.com/office/officeart/2005/8/layout/radial1"/>
    <dgm:cxn modelId="{83E583CE-5BF8-42C0-AFC0-93D37C074896}" type="presOf" srcId="{78D53742-EBB0-49C8-B970-D64988C13172}" destId="{FEFB65E6-4337-483E-B4C6-81F0EF308C56}" srcOrd="0" destOrd="0" presId="urn:microsoft.com/office/officeart/2005/8/layout/radial1"/>
    <dgm:cxn modelId="{A4E3D1F3-F2F3-412C-B787-692E8D8F71F5}" srcId="{95174543-BDFB-42A3-8E4D-3885A35D651B}" destId="{CA5D53BC-5C9B-4981-928A-130F3B8B604E}" srcOrd="2" destOrd="0" parTransId="{27662CEF-C952-4E76-AEBE-DA3F6B2FDEF7}" sibTransId="{6105D977-8208-421B-A74C-6B0082440CE2}"/>
    <dgm:cxn modelId="{D38D55FF-E4FF-4D06-B9C2-944184C9F0D9}" type="presOf" srcId="{CA5D53BC-5C9B-4981-928A-130F3B8B604E}" destId="{8FB39EE1-E87B-4B19-B64F-0F14993AA462}" srcOrd="0" destOrd="0" presId="urn:microsoft.com/office/officeart/2005/8/layout/radial1"/>
    <dgm:cxn modelId="{C922D29F-43B6-46FB-9F38-D96F0A153A16}" type="presParOf" srcId="{DB004D02-2775-4BAF-BBA6-4987BD6789DE}" destId="{C421EC6E-1AD9-439F-B6E5-437C5F0086BD}" srcOrd="0" destOrd="0" presId="urn:microsoft.com/office/officeart/2005/8/layout/radial1"/>
    <dgm:cxn modelId="{7A9E2C43-4916-4218-B385-E74731339205}" type="presParOf" srcId="{DB004D02-2775-4BAF-BBA6-4987BD6789DE}" destId="{5B85DA2D-8A52-436E-B810-B4B36B7B4453}" srcOrd="1" destOrd="0" presId="urn:microsoft.com/office/officeart/2005/8/layout/radial1"/>
    <dgm:cxn modelId="{439AC878-8371-4592-BA06-4A3CE06ABA27}" type="presParOf" srcId="{5B85DA2D-8A52-436E-B810-B4B36B7B4453}" destId="{6B2BE7C0-FF9C-402E-9DF9-0F80E896E669}" srcOrd="0" destOrd="0" presId="urn:microsoft.com/office/officeart/2005/8/layout/radial1"/>
    <dgm:cxn modelId="{E8E89E13-1CA4-4818-B516-D12BDD79C5D4}" type="presParOf" srcId="{DB004D02-2775-4BAF-BBA6-4987BD6789DE}" destId="{7037056B-52CC-4FAD-A03F-4F4F01AE98E1}" srcOrd="2" destOrd="0" presId="urn:microsoft.com/office/officeart/2005/8/layout/radial1"/>
    <dgm:cxn modelId="{BD01FA45-1AA8-4CC9-AD88-9867A07A644B}" type="presParOf" srcId="{DB004D02-2775-4BAF-BBA6-4987BD6789DE}" destId="{5C3529D7-2F1B-4B87-A66C-26F9560BD84D}" srcOrd="3" destOrd="0" presId="urn:microsoft.com/office/officeart/2005/8/layout/radial1"/>
    <dgm:cxn modelId="{48DCECD6-4893-401F-A005-458165610178}" type="presParOf" srcId="{5C3529D7-2F1B-4B87-A66C-26F9560BD84D}" destId="{9ECF3339-94FA-4488-8720-4DFED5C26DAF}" srcOrd="0" destOrd="0" presId="urn:microsoft.com/office/officeart/2005/8/layout/radial1"/>
    <dgm:cxn modelId="{DD1386FB-5FB1-45B5-A2E0-2BF0D9F73B65}" type="presParOf" srcId="{DB004D02-2775-4BAF-BBA6-4987BD6789DE}" destId="{33AF0487-6B61-4A9B-B199-FFE0E501FF09}" srcOrd="4" destOrd="0" presId="urn:microsoft.com/office/officeart/2005/8/layout/radial1"/>
    <dgm:cxn modelId="{98784E92-400A-4BB1-B56A-5AB25D16C9C0}" type="presParOf" srcId="{DB004D02-2775-4BAF-BBA6-4987BD6789DE}" destId="{6E451E09-B83F-410D-ACC8-D1F61385417A}" srcOrd="5" destOrd="0" presId="urn:microsoft.com/office/officeart/2005/8/layout/radial1"/>
    <dgm:cxn modelId="{DEE08CCD-A245-4332-A094-AF5E5798DFFB}" type="presParOf" srcId="{6E451E09-B83F-410D-ACC8-D1F61385417A}" destId="{F213ECE4-A281-42A5-9F49-825AE59D12ED}" srcOrd="0" destOrd="0" presId="urn:microsoft.com/office/officeart/2005/8/layout/radial1"/>
    <dgm:cxn modelId="{38719CFD-4EDD-463A-A0A4-D07336B435BA}" type="presParOf" srcId="{DB004D02-2775-4BAF-BBA6-4987BD6789DE}" destId="{8FB39EE1-E87B-4B19-B64F-0F14993AA462}" srcOrd="6" destOrd="0" presId="urn:microsoft.com/office/officeart/2005/8/layout/radial1"/>
    <dgm:cxn modelId="{650F210C-D4F9-4AD2-9281-02F7F39B37DC}" type="presParOf" srcId="{DB004D02-2775-4BAF-BBA6-4987BD6789DE}" destId="{EC64CB44-DC6D-49A6-8C30-2FEDCB501185}" srcOrd="7" destOrd="0" presId="urn:microsoft.com/office/officeart/2005/8/layout/radial1"/>
    <dgm:cxn modelId="{27AFB04F-3583-4CC2-B284-BF9E70AAB31A}" type="presParOf" srcId="{EC64CB44-DC6D-49A6-8C30-2FEDCB501185}" destId="{A5C28E8D-5362-466E-BEB8-75EC634BA743}" srcOrd="0" destOrd="0" presId="urn:microsoft.com/office/officeart/2005/8/layout/radial1"/>
    <dgm:cxn modelId="{44F95424-EF8B-4ABC-AE37-4CE3BBD30A40}" type="presParOf" srcId="{DB004D02-2775-4BAF-BBA6-4987BD6789DE}" destId="{75FAEB85-5289-4C05-958C-26CAD9A09341}" srcOrd="8" destOrd="0" presId="urn:microsoft.com/office/officeart/2005/8/layout/radial1"/>
    <dgm:cxn modelId="{6695597E-7AC5-4ACE-AB12-C35F6F6DEFBA}" type="presParOf" srcId="{DB004D02-2775-4BAF-BBA6-4987BD6789DE}" destId="{B29AA07A-2227-4E07-8BF7-C36DAB35F093}" srcOrd="9" destOrd="0" presId="urn:microsoft.com/office/officeart/2005/8/layout/radial1"/>
    <dgm:cxn modelId="{4D9BE0C0-864F-415D-B86E-17D8667DB020}" type="presParOf" srcId="{B29AA07A-2227-4E07-8BF7-C36DAB35F093}" destId="{FF58F6FC-08D9-45D5-B705-F941EBC4AE81}" srcOrd="0" destOrd="0" presId="urn:microsoft.com/office/officeart/2005/8/layout/radial1"/>
    <dgm:cxn modelId="{7E2596F9-F694-4467-9B09-F4956F6CCDFA}" type="presParOf" srcId="{DB004D02-2775-4BAF-BBA6-4987BD6789DE}" destId="{EE82EB00-D12D-49AB-9952-F9BED43C30D5}" srcOrd="10" destOrd="0" presId="urn:microsoft.com/office/officeart/2005/8/layout/radial1"/>
    <dgm:cxn modelId="{873AD0A8-7EEC-41D0-8C7C-7E71A8F6FC86}" type="presParOf" srcId="{DB004D02-2775-4BAF-BBA6-4987BD6789DE}" destId="{FC2C1FB6-82F1-4CFB-A56D-C69D132E8D14}" srcOrd="11" destOrd="0" presId="urn:microsoft.com/office/officeart/2005/8/layout/radial1"/>
    <dgm:cxn modelId="{C55EA068-5712-4A96-9772-E6DD7D881BAE}" type="presParOf" srcId="{FC2C1FB6-82F1-4CFB-A56D-C69D132E8D14}" destId="{7D8D223E-A134-46C7-BBE0-806608FF4F92}" srcOrd="0" destOrd="0" presId="urn:microsoft.com/office/officeart/2005/8/layout/radial1"/>
    <dgm:cxn modelId="{6C7B7DBB-17E8-447E-AA53-BE64F4456F81}" type="presParOf" srcId="{DB004D02-2775-4BAF-BBA6-4987BD6789DE}" destId="{FEFB65E6-4337-483E-B4C6-81F0EF308C56}" srcOrd="12" destOrd="0" presId="urn:microsoft.com/office/officeart/2005/8/layout/radial1"/>
    <dgm:cxn modelId="{DC690140-7A42-4B22-9B2F-7CB396057286}" type="presParOf" srcId="{DB004D02-2775-4BAF-BBA6-4987BD6789DE}" destId="{0B5DD1CE-46FB-4592-B6B4-F7C957122F0D}" srcOrd="13" destOrd="0" presId="urn:microsoft.com/office/officeart/2005/8/layout/radial1"/>
    <dgm:cxn modelId="{7DE22618-DADF-41BA-864D-E26C386E4AE5}" type="presParOf" srcId="{0B5DD1CE-46FB-4592-B6B4-F7C957122F0D}" destId="{52A9142F-BC53-4C4D-91D7-EAF5BED50D44}" srcOrd="0" destOrd="0" presId="urn:microsoft.com/office/officeart/2005/8/layout/radial1"/>
    <dgm:cxn modelId="{25523C3C-CDE7-4B6A-8A7B-475809A8C4F8}" type="presParOf" srcId="{DB004D02-2775-4BAF-BBA6-4987BD6789DE}" destId="{C00842AC-4477-4868-B007-A6629F9EBDAD}" srcOrd="1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1427BA-3EDB-4F45-B1DE-373159C490C6}" type="doc">
      <dgm:prSet loTypeId="urn:microsoft.com/office/officeart/2005/8/layout/radial4" loCatId="relationship" qsTypeId="urn:microsoft.com/office/officeart/2005/8/quickstyle/simple1" qsCatId="simple" csTypeId="urn:microsoft.com/office/officeart/2005/8/colors/colorful3" csCatId="colorful" phldr="1"/>
      <dgm:spPr/>
      <dgm:t>
        <a:bodyPr/>
        <a:lstStyle/>
        <a:p>
          <a:endParaRPr lang="en-US"/>
        </a:p>
      </dgm:t>
    </dgm:pt>
    <dgm:pt modelId="{943F4A1D-E7CD-44E2-8B4C-AB07742E28E3}">
      <dgm:prSet phldrT="[Text]"/>
      <dgm:spPr/>
      <dgm:t>
        <a:bodyPr/>
        <a:lstStyle/>
        <a:p>
          <a:r>
            <a:rPr lang="en-US" dirty="0"/>
            <a:t>Limits</a:t>
          </a:r>
        </a:p>
      </dgm:t>
    </dgm:pt>
    <dgm:pt modelId="{8783B95E-F9DF-4DD3-9ED8-0E6710D6AE64}" type="parTrans" cxnId="{1789D1C2-9B0F-4AEA-9A87-E31200EB0149}">
      <dgm:prSet/>
      <dgm:spPr/>
      <dgm:t>
        <a:bodyPr/>
        <a:lstStyle/>
        <a:p>
          <a:endParaRPr lang="en-US"/>
        </a:p>
      </dgm:t>
    </dgm:pt>
    <dgm:pt modelId="{12CEBD7F-369B-4DD0-BF09-B48A6ED48331}" type="sibTrans" cxnId="{1789D1C2-9B0F-4AEA-9A87-E31200EB0149}">
      <dgm:prSet/>
      <dgm:spPr/>
      <dgm:t>
        <a:bodyPr/>
        <a:lstStyle/>
        <a:p>
          <a:endParaRPr lang="en-US"/>
        </a:p>
      </dgm:t>
    </dgm:pt>
    <dgm:pt modelId="{E871F9E6-0764-455D-A77E-4F6EE2345A69}">
      <dgm:prSet phldrT="[Text]"/>
      <dgm:spPr/>
      <dgm:t>
        <a:bodyPr/>
        <a:lstStyle/>
        <a:p>
          <a:r>
            <a:rPr lang="en-US" dirty="0"/>
            <a:t>Limited generalizability due to data being sourced only from OULAD</a:t>
          </a:r>
        </a:p>
      </dgm:t>
    </dgm:pt>
    <dgm:pt modelId="{7767C3C6-566A-449D-A183-8C36BEE02754}" type="parTrans" cxnId="{3671BD8D-7EBF-4C6E-8547-9213A64B1F61}">
      <dgm:prSet/>
      <dgm:spPr/>
      <dgm:t>
        <a:bodyPr/>
        <a:lstStyle/>
        <a:p>
          <a:endParaRPr lang="en-US"/>
        </a:p>
      </dgm:t>
    </dgm:pt>
    <dgm:pt modelId="{13F742A4-810A-4D24-9A5E-FC4BF242CE4F}" type="sibTrans" cxnId="{3671BD8D-7EBF-4C6E-8547-9213A64B1F61}">
      <dgm:prSet/>
      <dgm:spPr/>
      <dgm:t>
        <a:bodyPr/>
        <a:lstStyle/>
        <a:p>
          <a:endParaRPr lang="en-US"/>
        </a:p>
      </dgm:t>
    </dgm:pt>
    <dgm:pt modelId="{5E95CDC6-27D4-41A2-9FA4-17606D990410}">
      <dgm:prSet phldrT="[Text]"/>
      <dgm:spPr/>
      <dgm:t>
        <a:bodyPr/>
        <a:lstStyle/>
        <a:p>
          <a:r>
            <a:rPr lang="en-US" dirty="0"/>
            <a:t>Study only allows for Inferred Recommendations for Mitigation</a:t>
          </a:r>
        </a:p>
      </dgm:t>
    </dgm:pt>
    <dgm:pt modelId="{5D648737-4B7C-4347-87B8-BE0C6B93493F}" type="parTrans" cxnId="{A481AB02-024F-4198-A955-62276E86B2A5}">
      <dgm:prSet/>
      <dgm:spPr/>
      <dgm:t>
        <a:bodyPr/>
        <a:lstStyle/>
        <a:p>
          <a:endParaRPr lang="en-US"/>
        </a:p>
      </dgm:t>
    </dgm:pt>
    <dgm:pt modelId="{F7215689-E82A-45E3-ACAA-636512C06247}" type="sibTrans" cxnId="{A481AB02-024F-4198-A955-62276E86B2A5}">
      <dgm:prSet/>
      <dgm:spPr/>
      <dgm:t>
        <a:bodyPr/>
        <a:lstStyle/>
        <a:p>
          <a:endParaRPr lang="en-US"/>
        </a:p>
      </dgm:t>
    </dgm:pt>
    <dgm:pt modelId="{089EFB7D-0BF6-47A6-B5AA-C7B28269D363}">
      <dgm:prSet phldrT="[Text]"/>
      <dgm:spPr/>
      <dgm:t>
        <a:bodyPr/>
        <a:lstStyle/>
        <a:p>
          <a:r>
            <a:rPr lang="en-US" dirty="0"/>
            <a:t>Multifaceted Student Support Strategy</a:t>
          </a:r>
        </a:p>
      </dgm:t>
    </dgm:pt>
    <dgm:pt modelId="{ED22F45A-3A8D-4BDE-9F2B-4153DFAFBE88}" type="parTrans" cxnId="{ABFDEC1B-7056-4665-B5CD-D2500D602964}">
      <dgm:prSet/>
      <dgm:spPr/>
      <dgm:t>
        <a:bodyPr/>
        <a:lstStyle/>
        <a:p>
          <a:endParaRPr lang="en-US"/>
        </a:p>
      </dgm:t>
    </dgm:pt>
    <dgm:pt modelId="{AF37218F-FD29-447A-9B7D-E3887FC49717}" type="sibTrans" cxnId="{ABFDEC1B-7056-4665-B5CD-D2500D602964}">
      <dgm:prSet/>
      <dgm:spPr/>
      <dgm:t>
        <a:bodyPr/>
        <a:lstStyle/>
        <a:p>
          <a:endParaRPr lang="en-US"/>
        </a:p>
      </dgm:t>
    </dgm:pt>
    <dgm:pt modelId="{7DBD91EA-2CCC-42F3-8CA7-97114012BCF2}" type="pres">
      <dgm:prSet presAssocID="{FB1427BA-3EDB-4F45-B1DE-373159C490C6}" presName="cycle" presStyleCnt="0">
        <dgm:presLayoutVars>
          <dgm:chMax val="1"/>
          <dgm:dir/>
          <dgm:animLvl val="ctr"/>
          <dgm:resizeHandles val="exact"/>
        </dgm:presLayoutVars>
      </dgm:prSet>
      <dgm:spPr/>
    </dgm:pt>
    <dgm:pt modelId="{BC9E9225-0E9B-426A-9E94-8A913C59F344}" type="pres">
      <dgm:prSet presAssocID="{943F4A1D-E7CD-44E2-8B4C-AB07742E28E3}" presName="centerShape" presStyleLbl="node0" presStyleIdx="0" presStyleCnt="1"/>
      <dgm:spPr/>
    </dgm:pt>
    <dgm:pt modelId="{7FC916B7-AA24-4620-8D99-48F6534B9340}" type="pres">
      <dgm:prSet presAssocID="{7767C3C6-566A-449D-A183-8C36BEE02754}" presName="parTrans" presStyleLbl="bgSibTrans2D1" presStyleIdx="0" presStyleCnt="3"/>
      <dgm:spPr/>
    </dgm:pt>
    <dgm:pt modelId="{8EC7B80B-E26A-4914-BC48-E90DB9890246}" type="pres">
      <dgm:prSet presAssocID="{E871F9E6-0764-455D-A77E-4F6EE2345A69}" presName="node" presStyleLbl="node1" presStyleIdx="0" presStyleCnt="3">
        <dgm:presLayoutVars>
          <dgm:bulletEnabled val="1"/>
        </dgm:presLayoutVars>
      </dgm:prSet>
      <dgm:spPr/>
    </dgm:pt>
    <dgm:pt modelId="{BC866FC3-5290-4120-8E54-CE43A8405779}" type="pres">
      <dgm:prSet presAssocID="{5D648737-4B7C-4347-87B8-BE0C6B93493F}" presName="parTrans" presStyleLbl="bgSibTrans2D1" presStyleIdx="1" presStyleCnt="3"/>
      <dgm:spPr/>
    </dgm:pt>
    <dgm:pt modelId="{4A09722D-D72D-4C63-BFD8-94F7C475DEDB}" type="pres">
      <dgm:prSet presAssocID="{5E95CDC6-27D4-41A2-9FA4-17606D990410}" presName="node" presStyleLbl="node1" presStyleIdx="1" presStyleCnt="3">
        <dgm:presLayoutVars>
          <dgm:bulletEnabled val="1"/>
        </dgm:presLayoutVars>
      </dgm:prSet>
      <dgm:spPr/>
    </dgm:pt>
    <dgm:pt modelId="{9C437ADA-5820-4F5B-8B0B-6EF65469A114}" type="pres">
      <dgm:prSet presAssocID="{ED22F45A-3A8D-4BDE-9F2B-4153DFAFBE88}" presName="parTrans" presStyleLbl="bgSibTrans2D1" presStyleIdx="2" presStyleCnt="3"/>
      <dgm:spPr/>
    </dgm:pt>
    <dgm:pt modelId="{E70CC121-CF57-4F34-923F-A7EAE2A4E5E5}" type="pres">
      <dgm:prSet presAssocID="{089EFB7D-0BF6-47A6-B5AA-C7B28269D363}" presName="node" presStyleLbl="node1" presStyleIdx="2" presStyleCnt="3">
        <dgm:presLayoutVars>
          <dgm:bulletEnabled val="1"/>
        </dgm:presLayoutVars>
      </dgm:prSet>
      <dgm:spPr/>
    </dgm:pt>
  </dgm:ptLst>
  <dgm:cxnLst>
    <dgm:cxn modelId="{A481AB02-024F-4198-A955-62276E86B2A5}" srcId="{943F4A1D-E7CD-44E2-8B4C-AB07742E28E3}" destId="{5E95CDC6-27D4-41A2-9FA4-17606D990410}" srcOrd="1" destOrd="0" parTransId="{5D648737-4B7C-4347-87B8-BE0C6B93493F}" sibTransId="{F7215689-E82A-45E3-ACAA-636512C06247}"/>
    <dgm:cxn modelId="{58DA1D14-B094-43A4-984F-E31E4EE7D37C}" type="presOf" srcId="{E871F9E6-0764-455D-A77E-4F6EE2345A69}" destId="{8EC7B80B-E26A-4914-BC48-E90DB9890246}" srcOrd="0" destOrd="0" presId="urn:microsoft.com/office/officeart/2005/8/layout/radial4"/>
    <dgm:cxn modelId="{ABFDEC1B-7056-4665-B5CD-D2500D602964}" srcId="{943F4A1D-E7CD-44E2-8B4C-AB07742E28E3}" destId="{089EFB7D-0BF6-47A6-B5AA-C7B28269D363}" srcOrd="2" destOrd="0" parTransId="{ED22F45A-3A8D-4BDE-9F2B-4153DFAFBE88}" sibTransId="{AF37218F-FD29-447A-9B7D-E3887FC49717}"/>
    <dgm:cxn modelId="{478FA064-9F40-4A52-870C-ED713BC77325}" type="presOf" srcId="{943F4A1D-E7CD-44E2-8B4C-AB07742E28E3}" destId="{BC9E9225-0E9B-426A-9E94-8A913C59F344}" srcOrd="0" destOrd="0" presId="urn:microsoft.com/office/officeart/2005/8/layout/radial4"/>
    <dgm:cxn modelId="{E158BB50-AC33-48C7-B1C0-8CFA71A56881}" type="presOf" srcId="{7767C3C6-566A-449D-A183-8C36BEE02754}" destId="{7FC916B7-AA24-4620-8D99-48F6534B9340}" srcOrd="0" destOrd="0" presId="urn:microsoft.com/office/officeart/2005/8/layout/radial4"/>
    <dgm:cxn modelId="{3671BD8D-7EBF-4C6E-8547-9213A64B1F61}" srcId="{943F4A1D-E7CD-44E2-8B4C-AB07742E28E3}" destId="{E871F9E6-0764-455D-A77E-4F6EE2345A69}" srcOrd="0" destOrd="0" parTransId="{7767C3C6-566A-449D-A183-8C36BEE02754}" sibTransId="{13F742A4-810A-4D24-9A5E-FC4BF242CE4F}"/>
    <dgm:cxn modelId="{CCFF8CA3-B753-408E-BBB8-E64E8F42D91D}" type="presOf" srcId="{FB1427BA-3EDB-4F45-B1DE-373159C490C6}" destId="{7DBD91EA-2CCC-42F3-8CA7-97114012BCF2}" srcOrd="0" destOrd="0" presId="urn:microsoft.com/office/officeart/2005/8/layout/radial4"/>
    <dgm:cxn modelId="{5D2ED6B7-28B3-43EE-8618-5904210AAAA1}" type="presOf" srcId="{5E95CDC6-27D4-41A2-9FA4-17606D990410}" destId="{4A09722D-D72D-4C63-BFD8-94F7C475DEDB}" srcOrd="0" destOrd="0" presId="urn:microsoft.com/office/officeart/2005/8/layout/radial4"/>
    <dgm:cxn modelId="{1789D1C2-9B0F-4AEA-9A87-E31200EB0149}" srcId="{FB1427BA-3EDB-4F45-B1DE-373159C490C6}" destId="{943F4A1D-E7CD-44E2-8B4C-AB07742E28E3}" srcOrd="0" destOrd="0" parTransId="{8783B95E-F9DF-4DD3-9ED8-0E6710D6AE64}" sibTransId="{12CEBD7F-369B-4DD0-BF09-B48A6ED48331}"/>
    <dgm:cxn modelId="{ABC482CD-524E-455B-8D8C-AA94E28B949A}" type="presOf" srcId="{5D648737-4B7C-4347-87B8-BE0C6B93493F}" destId="{BC866FC3-5290-4120-8E54-CE43A8405779}" srcOrd="0" destOrd="0" presId="urn:microsoft.com/office/officeart/2005/8/layout/radial4"/>
    <dgm:cxn modelId="{6D186DCE-E2B9-44DA-965D-20BACEDB7F07}" type="presOf" srcId="{ED22F45A-3A8D-4BDE-9F2B-4153DFAFBE88}" destId="{9C437ADA-5820-4F5B-8B0B-6EF65469A114}" srcOrd="0" destOrd="0" presId="urn:microsoft.com/office/officeart/2005/8/layout/radial4"/>
    <dgm:cxn modelId="{B03FA9E5-DB71-444B-B8D6-0AFD817BBB15}" type="presOf" srcId="{089EFB7D-0BF6-47A6-B5AA-C7B28269D363}" destId="{E70CC121-CF57-4F34-923F-A7EAE2A4E5E5}" srcOrd="0" destOrd="0" presId="urn:microsoft.com/office/officeart/2005/8/layout/radial4"/>
    <dgm:cxn modelId="{C8F75314-9653-4AC0-84E6-351992DF8EAB}" type="presParOf" srcId="{7DBD91EA-2CCC-42F3-8CA7-97114012BCF2}" destId="{BC9E9225-0E9B-426A-9E94-8A913C59F344}" srcOrd="0" destOrd="0" presId="urn:microsoft.com/office/officeart/2005/8/layout/radial4"/>
    <dgm:cxn modelId="{69A54E61-A1E5-40F6-9AE0-08082636C7E4}" type="presParOf" srcId="{7DBD91EA-2CCC-42F3-8CA7-97114012BCF2}" destId="{7FC916B7-AA24-4620-8D99-48F6534B9340}" srcOrd="1" destOrd="0" presId="urn:microsoft.com/office/officeart/2005/8/layout/radial4"/>
    <dgm:cxn modelId="{C862D5BC-ED9C-44AE-B691-E336DAA37DB8}" type="presParOf" srcId="{7DBD91EA-2CCC-42F3-8CA7-97114012BCF2}" destId="{8EC7B80B-E26A-4914-BC48-E90DB9890246}" srcOrd="2" destOrd="0" presId="urn:microsoft.com/office/officeart/2005/8/layout/radial4"/>
    <dgm:cxn modelId="{E954B4EF-5121-4F0A-A30F-E82BA7361C20}" type="presParOf" srcId="{7DBD91EA-2CCC-42F3-8CA7-97114012BCF2}" destId="{BC866FC3-5290-4120-8E54-CE43A8405779}" srcOrd="3" destOrd="0" presId="urn:microsoft.com/office/officeart/2005/8/layout/radial4"/>
    <dgm:cxn modelId="{DC50B4ED-9684-4AB1-A539-ECD37C453217}" type="presParOf" srcId="{7DBD91EA-2CCC-42F3-8CA7-97114012BCF2}" destId="{4A09722D-D72D-4C63-BFD8-94F7C475DEDB}" srcOrd="4" destOrd="0" presId="urn:microsoft.com/office/officeart/2005/8/layout/radial4"/>
    <dgm:cxn modelId="{08775194-4649-437A-92CB-835B254E4D62}" type="presParOf" srcId="{7DBD91EA-2CCC-42F3-8CA7-97114012BCF2}" destId="{9C437ADA-5820-4F5B-8B0B-6EF65469A114}" srcOrd="5" destOrd="0" presId="urn:microsoft.com/office/officeart/2005/8/layout/radial4"/>
    <dgm:cxn modelId="{B0FEDDB7-F172-45E6-9300-9A0BC1B1BAA3}" type="presParOf" srcId="{7DBD91EA-2CCC-42F3-8CA7-97114012BCF2}" destId="{E70CC121-CF57-4F34-923F-A7EAE2A4E5E5}"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1E122-3F86-4318-BAB0-644B135A87A0}">
      <dsp:nvSpPr>
        <dsp:cNvPr id="0" name=""/>
        <dsp:cNvSpPr/>
      </dsp:nvSpPr>
      <dsp:spPr>
        <a:xfrm>
          <a:off x="1473517" y="46057"/>
          <a:ext cx="2210752" cy="2210752"/>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Assessment Dates</a:t>
          </a:r>
        </a:p>
        <a:p>
          <a:pPr marL="0" lvl="0" indent="0" algn="ctr" defTabSz="622300">
            <a:lnSpc>
              <a:spcPct val="90000"/>
            </a:lnSpc>
            <a:spcBef>
              <a:spcPct val="0"/>
            </a:spcBef>
            <a:spcAft>
              <a:spcPct val="35000"/>
            </a:spcAft>
            <a:buNone/>
          </a:pPr>
          <a:r>
            <a:rPr lang="en-US" sz="1100" kern="1200" dirty="0"/>
            <a:t>Check Assessment Dates</a:t>
          </a:r>
        </a:p>
        <a:p>
          <a:pPr marL="0" lvl="0" indent="0" algn="ctr" defTabSz="622300">
            <a:lnSpc>
              <a:spcPct val="90000"/>
            </a:lnSpc>
            <a:spcBef>
              <a:spcPct val="0"/>
            </a:spcBef>
            <a:spcAft>
              <a:spcPct val="35000"/>
            </a:spcAft>
            <a:buNone/>
          </a:pPr>
          <a:r>
            <a:rPr lang="en-US" sz="1100" kern="1200" dirty="0"/>
            <a:t>19, 24, 34, 49, 54, 69</a:t>
          </a:r>
        </a:p>
      </dsp:txBody>
      <dsp:txXfrm>
        <a:off x="1768284" y="432939"/>
        <a:ext cx="1621218" cy="994838"/>
      </dsp:txXfrm>
    </dsp:sp>
    <dsp:sp modelId="{5356132F-3475-491A-8A72-15E1EE744BE8}">
      <dsp:nvSpPr>
        <dsp:cNvPr id="0" name=""/>
        <dsp:cNvSpPr/>
      </dsp:nvSpPr>
      <dsp:spPr>
        <a:xfrm>
          <a:off x="2271230" y="1427777"/>
          <a:ext cx="2210752" cy="2210752"/>
        </a:xfrm>
        <a:prstGeom prst="ellipse">
          <a:avLst/>
        </a:prstGeom>
        <a:solidFill>
          <a:schemeClr val="accent4">
            <a:alpha val="50000"/>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Credit</a:t>
          </a:r>
        </a:p>
        <a:p>
          <a:pPr marL="0" lvl="0" indent="0" algn="ctr" defTabSz="622300">
            <a:lnSpc>
              <a:spcPct val="90000"/>
            </a:lnSpc>
            <a:spcBef>
              <a:spcPct val="0"/>
            </a:spcBef>
            <a:spcAft>
              <a:spcPct val="35000"/>
            </a:spcAft>
            <a:buNone/>
          </a:pPr>
          <a:r>
            <a:rPr lang="en-US" sz="1100" kern="1200" dirty="0"/>
            <a:t>Highlight Assessments with Highest Credits</a:t>
          </a:r>
        </a:p>
      </dsp:txBody>
      <dsp:txXfrm>
        <a:off x="2947352" y="1998888"/>
        <a:ext cx="1326451" cy="1215914"/>
      </dsp:txXfrm>
    </dsp:sp>
    <dsp:sp modelId="{8D72A62E-60FB-4E7E-B46F-722727082F4D}">
      <dsp:nvSpPr>
        <dsp:cNvPr id="0" name=""/>
        <dsp:cNvSpPr/>
      </dsp:nvSpPr>
      <dsp:spPr>
        <a:xfrm>
          <a:off x="675803" y="1427777"/>
          <a:ext cx="2210752" cy="2210752"/>
        </a:xfrm>
        <a:prstGeom prst="ellipse">
          <a:avLst/>
        </a:prstGeom>
        <a:solidFill>
          <a:schemeClr val="accent4">
            <a:alpha val="50000"/>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Score</a:t>
          </a:r>
        </a:p>
        <a:p>
          <a:pPr marL="0" lvl="0" indent="0" algn="ctr" defTabSz="622300">
            <a:lnSpc>
              <a:spcPct val="90000"/>
            </a:lnSpc>
            <a:spcBef>
              <a:spcPct val="0"/>
            </a:spcBef>
            <a:spcAft>
              <a:spcPct val="35000"/>
            </a:spcAft>
            <a:buNone/>
          </a:pPr>
          <a:r>
            <a:rPr lang="en-US" sz="1100" kern="1200" dirty="0"/>
            <a:t>Check Students with Scores Lower than 72</a:t>
          </a:r>
        </a:p>
      </dsp:txBody>
      <dsp:txXfrm>
        <a:off x="883983" y="1998888"/>
        <a:ext cx="1326451" cy="1215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1EC6E-1AD9-439F-B6E5-437C5F0086BD}">
      <dsp:nvSpPr>
        <dsp:cNvPr id="0" name=""/>
        <dsp:cNvSpPr/>
      </dsp:nvSpPr>
      <dsp:spPr>
        <a:xfrm>
          <a:off x="2113262" y="1434929"/>
          <a:ext cx="956662" cy="95666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Support</a:t>
          </a:r>
        </a:p>
      </dsp:txBody>
      <dsp:txXfrm>
        <a:off x="2253362" y="1575029"/>
        <a:ext cx="676462" cy="676462"/>
      </dsp:txXfrm>
    </dsp:sp>
    <dsp:sp modelId="{5B85DA2D-8A52-436E-B810-B4B36B7B4453}">
      <dsp:nvSpPr>
        <dsp:cNvPr id="0" name=""/>
        <dsp:cNvSpPr/>
      </dsp:nvSpPr>
      <dsp:spPr>
        <a:xfrm rot="16200000">
          <a:off x="2353309" y="1180034"/>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679" y="1184731"/>
        <a:ext cx="23828" cy="23828"/>
      </dsp:txXfrm>
    </dsp:sp>
    <dsp:sp modelId="{7037056B-52CC-4FAD-A03F-4F4F01AE98E1}">
      <dsp:nvSpPr>
        <dsp:cNvPr id="0" name=""/>
        <dsp:cNvSpPr/>
      </dsp:nvSpPr>
      <dsp:spPr>
        <a:xfrm>
          <a:off x="2113262" y="1698"/>
          <a:ext cx="956662" cy="95666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10-20% Students, </a:t>
          </a:r>
        </a:p>
      </dsp:txBody>
      <dsp:txXfrm>
        <a:off x="2253362" y="141798"/>
        <a:ext cx="676462" cy="676462"/>
      </dsp:txXfrm>
    </dsp:sp>
    <dsp:sp modelId="{5C3529D7-2F1B-4B87-A66C-26F9560BD84D}">
      <dsp:nvSpPr>
        <dsp:cNvPr id="0" name=""/>
        <dsp:cNvSpPr/>
      </dsp:nvSpPr>
      <dsp:spPr>
        <a:xfrm rot="19285714">
          <a:off x="2913582"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9952" y="1454544"/>
        <a:ext cx="23828" cy="23828"/>
      </dsp:txXfrm>
    </dsp:sp>
    <dsp:sp modelId="{33AF0487-6B61-4A9B-B199-FFE0E501FF09}">
      <dsp:nvSpPr>
        <dsp:cNvPr id="0" name=""/>
        <dsp:cNvSpPr/>
      </dsp:nvSpPr>
      <dsp:spPr>
        <a:xfrm>
          <a:off x="3233808" y="541324"/>
          <a:ext cx="956662" cy="956662"/>
        </a:xfrm>
        <a:prstGeom prst="ellipse">
          <a:avLst/>
        </a:prstGeom>
        <a:solidFill>
          <a:schemeClr val="accent4">
            <a:hueOff val="1633482"/>
            <a:satOff val="-6796"/>
            <a:lumOff val="16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30-40% Students, </a:t>
          </a:r>
        </a:p>
      </dsp:txBody>
      <dsp:txXfrm>
        <a:off x="3373908" y="681424"/>
        <a:ext cx="676462" cy="676462"/>
      </dsp:txXfrm>
    </dsp:sp>
    <dsp:sp modelId="{6E451E09-B83F-410D-ACC8-D1F61385417A}">
      <dsp:nvSpPr>
        <dsp:cNvPr id="0" name=""/>
        <dsp:cNvSpPr/>
      </dsp:nvSpPr>
      <dsp:spPr>
        <a:xfrm rot="771429">
          <a:off x="3051958"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8328" y="2060809"/>
        <a:ext cx="23828" cy="23828"/>
      </dsp:txXfrm>
    </dsp:sp>
    <dsp:sp modelId="{8FB39EE1-E87B-4B19-B64F-0F14993AA462}">
      <dsp:nvSpPr>
        <dsp:cNvPr id="0" name=""/>
        <dsp:cNvSpPr/>
      </dsp:nvSpPr>
      <dsp:spPr>
        <a:xfrm>
          <a:off x="3510560" y="1753853"/>
          <a:ext cx="956662" cy="956662"/>
        </a:xfrm>
        <a:prstGeom prst="ellipse">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Lower than A Level</a:t>
          </a:r>
        </a:p>
      </dsp:txBody>
      <dsp:txXfrm>
        <a:off x="3650660" y="1893953"/>
        <a:ext cx="676462" cy="676462"/>
      </dsp:txXfrm>
    </dsp:sp>
    <dsp:sp modelId="{EC64CB44-DC6D-49A6-8C30-2FEDCB501185}">
      <dsp:nvSpPr>
        <dsp:cNvPr id="0" name=""/>
        <dsp:cNvSpPr/>
      </dsp:nvSpPr>
      <dsp:spPr>
        <a:xfrm rot="3857143">
          <a:off x="2664237"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0607" y="2546995"/>
        <a:ext cx="23828" cy="23828"/>
      </dsp:txXfrm>
    </dsp:sp>
    <dsp:sp modelId="{75FAEB85-5289-4C05-958C-26CAD9A09341}">
      <dsp:nvSpPr>
        <dsp:cNvPr id="0" name=""/>
        <dsp:cNvSpPr/>
      </dsp:nvSpPr>
      <dsp:spPr>
        <a:xfrm>
          <a:off x="2735118" y="2726226"/>
          <a:ext cx="956662" cy="956662"/>
        </a:xfrm>
        <a:prstGeom prst="ellipse">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HE Qualification</a:t>
          </a:r>
        </a:p>
      </dsp:txBody>
      <dsp:txXfrm>
        <a:off x="2875218" y="2866326"/>
        <a:ext cx="676462" cy="676462"/>
      </dsp:txXfrm>
    </dsp:sp>
    <dsp:sp modelId="{B29AA07A-2227-4E07-8BF7-C36DAB35F093}">
      <dsp:nvSpPr>
        <dsp:cNvPr id="0" name=""/>
        <dsp:cNvSpPr/>
      </dsp:nvSpPr>
      <dsp:spPr>
        <a:xfrm rot="6942857">
          <a:off x="2042381"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68751" y="2546995"/>
        <a:ext cx="23828" cy="23828"/>
      </dsp:txXfrm>
    </dsp:sp>
    <dsp:sp modelId="{EE82EB00-D12D-49AB-9952-F9BED43C30D5}">
      <dsp:nvSpPr>
        <dsp:cNvPr id="0" name=""/>
        <dsp:cNvSpPr/>
      </dsp:nvSpPr>
      <dsp:spPr>
        <a:xfrm>
          <a:off x="1491406" y="2726226"/>
          <a:ext cx="956662" cy="956662"/>
        </a:xfrm>
        <a:prstGeom prst="ellipse">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from South West Region</a:t>
          </a:r>
        </a:p>
      </dsp:txBody>
      <dsp:txXfrm>
        <a:off x="1631506" y="2866326"/>
        <a:ext cx="676462" cy="676462"/>
      </dsp:txXfrm>
    </dsp:sp>
    <dsp:sp modelId="{FC2C1FB6-82F1-4CFB-A56D-C69D132E8D14}">
      <dsp:nvSpPr>
        <dsp:cNvPr id="0" name=""/>
        <dsp:cNvSpPr/>
      </dsp:nvSpPr>
      <dsp:spPr>
        <a:xfrm rot="10028571">
          <a:off x="1654660"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81031" y="2060809"/>
        <a:ext cx="23828" cy="23828"/>
      </dsp:txXfrm>
    </dsp:sp>
    <dsp:sp modelId="{FEFB65E6-4337-483E-B4C6-81F0EF308C56}">
      <dsp:nvSpPr>
        <dsp:cNvPr id="0" name=""/>
        <dsp:cNvSpPr/>
      </dsp:nvSpPr>
      <dsp:spPr>
        <a:xfrm>
          <a:off x="715965" y="1753853"/>
          <a:ext cx="956662" cy="956662"/>
        </a:xfrm>
        <a:prstGeom prst="ellipse">
          <a:avLst/>
        </a:prstGeom>
        <a:solidFill>
          <a:schemeClr val="accent4">
            <a:hueOff val="8167408"/>
            <a:satOff val="-33981"/>
            <a:lumOff val="80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Male Students </a:t>
          </a:r>
        </a:p>
      </dsp:txBody>
      <dsp:txXfrm>
        <a:off x="856065" y="1893953"/>
        <a:ext cx="676462" cy="676462"/>
      </dsp:txXfrm>
    </dsp:sp>
    <dsp:sp modelId="{0B5DD1CE-46FB-4592-B6B4-F7C957122F0D}">
      <dsp:nvSpPr>
        <dsp:cNvPr id="0" name=""/>
        <dsp:cNvSpPr/>
      </dsp:nvSpPr>
      <dsp:spPr>
        <a:xfrm rot="13114286">
          <a:off x="1793036"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19407" y="1454544"/>
        <a:ext cx="23828" cy="23828"/>
      </dsp:txXfrm>
    </dsp:sp>
    <dsp:sp modelId="{C00842AC-4477-4868-B007-A6629F9EBDAD}">
      <dsp:nvSpPr>
        <dsp:cNvPr id="0" name=""/>
        <dsp:cNvSpPr/>
      </dsp:nvSpPr>
      <dsp:spPr>
        <a:xfrm>
          <a:off x="992717" y="541324"/>
          <a:ext cx="956662" cy="956662"/>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Previous Attempts for Class</a:t>
          </a:r>
        </a:p>
      </dsp:txBody>
      <dsp:txXfrm>
        <a:off x="1132817" y="681424"/>
        <a:ext cx="676462" cy="676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1E122-3F86-4318-BAB0-644B135A87A0}">
      <dsp:nvSpPr>
        <dsp:cNvPr id="0" name=""/>
        <dsp:cNvSpPr/>
      </dsp:nvSpPr>
      <dsp:spPr>
        <a:xfrm>
          <a:off x="1473517" y="46057"/>
          <a:ext cx="2210752" cy="2210752"/>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Assessment Dates</a:t>
          </a:r>
        </a:p>
        <a:p>
          <a:pPr marL="0" lvl="0" indent="0" algn="ctr" defTabSz="622300">
            <a:lnSpc>
              <a:spcPct val="90000"/>
            </a:lnSpc>
            <a:spcBef>
              <a:spcPct val="0"/>
            </a:spcBef>
            <a:spcAft>
              <a:spcPct val="35000"/>
            </a:spcAft>
            <a:buNone/>
          </a:pPr>
          <a:r>
            <a:rPr lang="en-US" sz="1100" kern="1200" dirty="0"/>
            <a:t>Check Assessment Dates</a:t>
          </a:r>
        </a:p>
        <a:p>
          <a:pPr marL="0" lvl="0" indent="0" algn="ctr" defTabSz="622300">
            <a:lnSpc>
              <a:spcPct val="90000"/>
            </a:lnSpc>
            <a:spcBef>
              <a:spcPct val="0"/>
            </a:spcBef>
            <a:spcAft>
              <a:spcPct val="35000"/>
            </a:spcAft>
            <a:buNone/>
          </a:pPr>
          <a:r>
            <a:rPr lang="en-US" sz="1100" kern="1200" dirty="0"/>
            <a:t>19, 24, 34, 49, 54, 69</a:t>
          </a:r>
        </a:p>
      </dsp:txBody>
      <dsp:txXfrm>
        <a:off x="1768284" y="432939"/>
        <a:ext cx="1621218" cy="994838"/>
      </dsp:txXfrm>
    </dsp:sp>
    <dsp:sp modelId="{5356132F-3475-491A-8A72-15E1EE744BE8}">
      <dsp:nvSpPr>
        <dsp:cNvPr id="0" name=""/>
        <dsp:cNvSpPr/>
      </dsp:nvSpPr>
      <dsp:spPr>
        <a:xfrm>
          <a:off x="2271230" y="1427777"/>
          <a:ext cx="2210752" cy="2210752"/>
        </a:xfrm>
        <a:prstGeom prst="ellipse">
          <a:avLst/>
        </a:prstGeom>
        <a:solidFill>
          <a:schemeClr val="accent4">
            <a:alpha val="50000"/>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Credit</a:t>
          </a:r>
        </a:p>
        <a:p>
          <a:pPr marL="0" lvl="0" indent="0" algn="ctr" defTabSz="622300">
            <a:lnSpc>
              <a:spcPct val="90000"/>
            </a:lnSpc>
            <a:spcBef>
              <a:spcPct val="0"/>
            </a:spcBef>
            <a:spcAft>
              <a:spcPct val="35000"/>
            </a:spcAft>
            <a:buNone/>
          </a:pPr>
          <a:r>
            <a:rPr lang="en-US" sz="1100" kern="1200" dirty="0"/>
            <a:t>Highlight Assessments with Highest Credits</a:t>
          </a:r>
        </a:p>
      </dsp:txBody>
      <dsp:txXfrm>
        <a:off x="2947352" y="1998888"/>
        <a:ext cx="1326451" cy="1215914"/>
      </dsp:txXfrm>
    </dsp:sp>
    <dsp:sp modelId="{8D72A62E-60FB-4E7E-B46F-722727082F4D}">
      <dsp:nvSpPr>
        <dsp:cNvPr id="0" name=""/>
        <dsp:cNvSpPr/>
      </dsp:nvSpPr>
      <dsp:spPr>
        <a:xfrm>
          <a:off x="675803" y="1427777"/>
          <a:ext cx="2210752" cy="2210752"/>
        </a:xfrm>
        <a:prstGeom prst="ellipse">
          <a:avLst/>
        </a:prstGeom>
        <a:solidFill>
          <a:schemeClr val="accent4">
            <a:alpha val="50000"/>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Score</a:t>
          </a:r>
        </a:p>
        <a:p>
          <a:pPr marL="0" lvl="0" indent="0" algn="ctr" defTabSz="622300">
            <a:lnSpc>
              <a:spcPct val="90000"/>
            </a:lnSpc>
            <a:spcBef>
              <a:spcPct val="0"/>
            </a:spcBef>
            <a:spcAft>
              <a:spcPct val="35000"/>
            </a:spcAft>
            <a:buNone/>
          </a:pPr>
          <a:r>
            <a:rPr lang="en-US" sz="1100" kern="1200" dirty="0"/>
            <a:t>Check Students with Scores Lower than 72</a:t>
          </a:r>
        </a:p>
      </dsp:txBody>
      <dsp:txXfrm>
        <a:off x="883983" y="1998888"/>
        <a:ext cx="1326451" cy="12159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1EC6E-1AD9-439F-B6E5-437C5F0086BD}">
      <dsp:nvSpPr>
        <dsp:cNvPr id="0" name=""/>
        <dsp:cNvSpPr/>
      </dsp:nvSpPr>
      <dsp:spPr>
        <a:xfrm>
          <a:off x="2113262" y="1434929"/>
          <a:ext cx="956662" cy="95666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Support</a:t>
          </a:r>
        </a:p>
      </dsp:txBody>
      <dsp:txXfrm>
        <a:off x="2253362" y="1575029"/>
        <a:ext cx="676462" cy="676462"/>
      </dsp:txXfrm>
    </dsp:sp>
    <dsp:sp modelId="{5B85DA2D-8A52-436E-B810-B4B36B7B4453}">
      <dsp:nvSpPr>
        <dsp:cNvPr id="0" name=""/>
        <dsp:cNvSpPr/>
      </dsp:nvSpPr>
      <dsp:spPr>
        <a:xfrm rot="16200000">
          <a:off x="2353309" y="1180034"/>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679" y="1184731"/>
        <a:ext cx="23828" cy="23828"/>
      </dsp:txXfrm>
    </dsp:sp>
    <dsp:sp modelId="{7037056B-52CC-4FAD-A03F-4F4F01AE98E1}">
      <dsp:nvSpPr>
        <dsp:cNvPr id="0" name=""/>
        <dsp:cNvSpPr/>
      </dsp:nvSpPr>
      <dsp:spPr>
        <a:xfrm>
          <a:off x="2113262" y="1698"/>
          <a:ext cx="956662" cy="95666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10-20% Students, </a:t>
          </a:r>
        </a:p>
      </dsp:txBody>
      <dsp:txXfrm>
        <a:off x="2253362" y="141798"/>
        <a:ext cx="676462" cy="676462"/>
      </dsp:txXfrm>
    </dsp:sp>
    <dsp:sp modelId="{5C3529D7-2F1B-4B87-A66C-26F9560BD84D}">
      <dsp:nvSpPr>
        <dsp:cNvPr id="0" name=""/>
        <dsp:cNvSpPr/>
      </dsp:nvSpPr>
      <dsp:spPr>
        <a:xfrm rot="19285714">
          <a:off x="2913582"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9952" y="1454544"/>
        <a:ext cx="23828" cy="23828"/>
      </dsp:txXfrm>
    </dsp:sp>
    <dsp:sp modelId="{33AF0487-6B61-4A9B-B199-FFE0E501FF09}">
      <dsp:nvSpPr>
        <dsp:cNvPr id="0" name=""/>
        <dsp:cNvSpPr/>
      </dsp:nvSpPr>
      <dsp:spPr>
        <a:xfrm>
          <a:off x="3233808" y="541324"/>
          <a:ext cx="956662" cy="956662"/>
        </a:xfrm>
        <a:prstGeom prst="ellipse">
          <a:avLst/>
        </a:prstGeom>
        <a:solidFill>
          <a:schemeClr val="accent4">
            <a:hueOff val="1633482"/>
            <a:satOff val="-6796"/>
            <a:lumOff val="16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30-40% Students, </a:t>
          </a:r>
        </a:p>
      </dsp:txBody>
      <dsp:txXfrm>
        <a:off x="3373908" y="681424"/>
        <a:ext cx="676462" cy="676462"/>
      </dsp:txXfrm>
    </dsp:sp>
    <dsp:sp modelId="{6E451E09-B83F-410D-ACC8-D1F61385417A}">
      <dsp:nvSpPr>
        <dsp:cNvPr id="0" name=""/>
        <dsp:cNvSpPr/>
      </dsp:nvSpPr>
      <dsp:spPr>
        <a:xfrm rot="771429">
          <a:off x="3051958"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8328" y="2060809"/>
        <a:ext cx="23828" cy="23828"/>
      </dsp:txXfrm>
    </dsp:sp>
    <dsp:sp modelId="{8FB39EE1-E87B-4B19-B64F-0F14993AA462}">
      <dsp:nvSpPr>
        <dsp:cNvPr id="0" name=""/>
        <dsp:cNvSpPr/>
      </dsp:nvSpPr>
      <dsp:spPr>
        <a:xfrm>
          <a:off x="3510560" y="1753853"/>
          <a:ext cx="956662" cy="956662"/>
        </a:xfrm>
        <a:prstGeom prst="ellipse">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Lower than A Level</a:t>
          </a:r>
        </a:p>
      </dsp:txBody>
      <dsp:txXfrm>
        <a:off x="3650660" y="1893953"/>
        <a:ext cx="676462" cy="676462"/>
      </dsp:txXfrm>
    </dsp:sp>
    <dsp:sp modelId="{EC64CB44-DC6D-49A6-8C30-2FEDCB501185}">
      <dsp:nvSpPr>
        <dsp:cNvPr id="0" name=""/>
        <dsp:cNvSpPr/>
      </dsp:nvSpPr>
      <dsp:spPr>
        <a:xfrm rot="3857143">
          <a:off x="2664237"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0607" y="2546995"/>
        <a:ext cx="23828" cy="23828"/>
      </dsp:txXfrm>
    </dsp:sp>
    <dsp:sp modelId="{75FAEB85-5289-4C05-958C-26CAD9A09341}">
      <dsp:nvSpPr>
        <dsp:cNvPr id="0" name=""/>
        <dsp:cNvSpPr/>
      </dsp:nvSpPr>
      <dsp:spPr>
        <a:xfrm>
          <a:off x="2735118" y="2726226"/>
          <a:ext cx="956662" cy="956662"/>
        </a:xfrm>
        <a:prstGeom prst="ellipse">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HE Qualification</a:t>
          </a:r>
        </a:p>
      </dsp:txBody>
      <dsp:txXfrm>
        <a:off x="2875218" y="2866326"/>
        <a:ext cx="676462" cy="676462"/>
      </dsp:txXfrm>
    </dsp:sp>
    <dsp:sp modelId="{B29AA07A-2227-4E07-8BF7-C36DAB35F093}">
      <dsp:nvSpPr>
        <dsp:cNvPr id="0" name=""/>
        <dsp:cNvSpPr/>
      </dsp:nvSpPr>
      <dsp:spPr>
        <a:xfrm rot="6942857">
          <a:off x="2042381"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68751" y="2546995"/>
        <a:ext cx="23828" cy="23828"/>
      </dsp:txXfrm>
    </dsp:sp>
    <dsp:sp modelId="{EE82EB00-D12D-49AB-9952-F9BED43C30D5}">
      <dsp:nvSpPr>
        <dsp:cNvPr id="0" name=""/>
        <dsp:cNvSpPr/>
      </dsp:nvSpPr>
      <dsp:spPr>
        <a:xfrm>
          <a:off x="1491406" y="2726226"/>
          <a:ext cx="956662" cy="956662"/>
        </a:xfrm>
        <a:prstGeom prst="ellipse">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from South West Region</a:t>
          </a:r>
        </a:p>
      </dsp:txBody>
      <dsp:txXfrm>
        <a:off x="1631506" y="2866326"/>
        <a:ext cx="676462" cy="676462"/>
      </dsp:txXfrm>
    </dsp:sp>
    <dsp:sp modelId="{FC2C1FB6-82F1-4CFB-A56D-C69D132E8D14}">
      <dsp:nvSpPr>
        <dsp:cNvPr id="0" name=""/>
        <dsp:cNvSpPr/>
      </dsp:nvSpPr>
      <dsp:spPr>
        <a:xfrm rot="10028571">
          <a:off x="1654660"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81031" y="2060809"/>
        <a:ext cx="23828" cy="23828"/>
      </dsp:txXfrm>
    </dsp:sp>
    <dsp:sp modelId="{FEFB65E6-4337-483E-B4C6-81F0EF308C56}">
      <dsp:nvSpPr>
        <dsp:cNvPr id="0" name=""/>
        <dsp:cNvSpPr/>
      </dsp:nvSpPr>
      <dsp:spPr>
        <a:xfrm>
          <a:off x="715965" y="1753853"/>
          <a:ext cx="956662" cy="956662"/>
        </a:xfrm>
        <a:prstGeom prst="ellipse">
          <a:avLst/>
        </a:prstGeom>
        <a:solidFill>
          <a:schemeClr val="accent4">
            <a:hueOff val="8167408"/>
            <a:satOff val="-33981"/>
            <a:lumOff val="80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Male Students </a:t>
          </a:r>
        </a:p>
      </dsp:txBody>
      <dsp:txXfrm>
        <a:off x="856065" y="1893953"/>
        <a:ext cx="676462" cy="676462"/>
      </dsp:txXfrm>
    </dsp:sp>
    <dsp:sp modelId="{0B5DD1CE-46FB-4592-B6B4-F7C957122F0D}">
      <dsp:nvSpPr>
        <dsp:cNvPr id="0" name=""/>
        <dsp:cNvSpPr/>
      </dsp:nvSpPr>
      <dsp:spPr>
        <a:xfrm rot="13114286">
          <a:off x="1793036"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19407" y="1454544"/>
        <a:ext cx="23828" cy="23828"/>
      </dsp:txXfrm>
    </dsp:sp>
    <dsp:sp modelId="{C00842AC-4477-4868-B007-A6629F9EBDAD}">
      <dsp:nvSpPr>
        <dsp:cNvPr id="0" name=""/>
        <dsp:cNvSpPr/>
      </dsp:nvSpPr>
      <dsp:spPr>
        <a:xfrm>
          <a:off x="992717" y="541324"/>
          <a:ext cx="956662" cy="956662"/>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Previous Attempts for Class</a:t>
          </a:r>
        </a:p>
      </dsp:txBody>
      <dsp:txXfrm>
        <a:off x="1132817" y="681424"/>
        <a:ext cx="676462" cy="676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E9225-0E9B-426A-9E94-8A913C59F344}">
      <dsp:nvSpPr>
        <dsp:cNvPr id="0" name=""/>
        <dsp:cNvSpPr/>
      </dsp:nvSpPr>
      <dsp:spPr>
        <a:xfrm>
          <a:off x="4265184" y="2364917"/>
          <a:ext cx="1985230" cy="198523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Limits</a:t>
          </a:r>
        </a:p>
      </dsp:txBody>
      <dsp:txXfrm>
        <a:off x="4555914" y="2655647"/>
        <a:ext cx="1403770" cy="1403770"/>
      </dsp:txXfrm>
    </dsp:sp>
    <dsp:sp modelId="{7FC916B7-AA24-4620-8D99-48F6534B9340}">
      <dsp:nvSpPr>
        <dsp:cNvPr id="0" name=""/>
        <dsp:cNvSpPr/>
      </dsp:nvSpPr>
      <dsp:spPr>
        <a:xfrm rot="12900000">
          <a:off x="2988885" y="2018372"/>
          <a:ext cx="1520825" cy="565790"/>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C7B80B-E26A-4914-BC48-E90DB9890246}">
      <dsp:nvSpPr>
        <dsp:cNvPr id="0" name=""/>
        <dsp:cNvSpPr/>
      </dsp:nvSpPr>
      <dsp:spPr>
        <a:xfrm>
          <a:off x="2183419" y="1110725"/>
          <a:ext cx="1885968" cy="150877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Limited generalizability due to data being sourced only from OULAD</a:t>
          </a:r>
        </a:p>
      </dsp:txBody>
      <dsp:txXfrm>
        <a:off x="2227610" y="1154916"/>
        <a:ext cx="1797586" cy="1420393"/>
      </dsp:txXfrm>
    </dsp:sp>
    <dsp:sp modelId="{BC866FC3-5290-4120-8E54-CE43A8405779}">
      <dsp:nvSpPr>
        <dsp:cNvPr id="0" name=""/>
        <dsp:cNvSpPr/>
      </dsp:nvSpPr>
      <dsp:spPr>
        <a:xfrm rot="16200000">
          <a:off x="4497387" y="1233095"/>
          <a:ext cx="1520825" cy="565790"/>
        </a:xfrm>
        <a:prstGeom prst="leftArrow">
          <a:avLst>
            <a:gd name="adj1" fmla="val 60000"/>
            <a:gd name="adj2" fmla="val 50000"/>
          </a:avLst>
        </a:prstGeom>
        <a:solidFill>
          <a:schemeClr val="accent3">
            <a:hueOff val="1355300"/>
            <a:satOff val="50000"/>
            <a:lumOff val="-7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09722D-D72D-4C63-BFD8-94F7C475DEDB}">
      <dsp:nvSpPr>
        <dsp:cNvPr id="0" name=""/>
        <dsp:cNvSpPr/>
      </dsp:nvSpPr>
      <dsp:spPr>
        <a:xfrm>
          <a:off x="4314815" y="1190"/>
          <a:ext cx="1885968" cy="1508775"/>
        </a:xfrm>
        <a:prstGeom prst="roundRect">
          <a:avLst>
            <a:gd name="adj" fmla="val 10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Study only allows for Inferred Recommendations for Mitigation</a:t>
          </a:r>
        </a:p>
      </dsp:txBody>
      <dsp:txXfrm>
        <a:off x="4359006" y="45381"/>
        <a:ext cx="1797586" cy="1420393"/>
      </dsp:txXfrm>
    </dsp:sp>
    <dsp:sp modelId="{9C437ADA-5820-4F5B-8B0B-6EF65469A114}">
      <dsp:nvSpPr>
        <dsp:cNvPr id="0" name=""/>
        <dsp:cNvSpPr/>
      </dsp:nvSpPr>
      <dsp:spPr>
        <a:xfrm rot="19500000">
          <a:off x="6005889" y="2018372"/>
          <a:ext cx="1520825" cy="565790"/>
        </a:xfrm>
        <a:prstGeom prst="leftArrow">
          <a:avLst>
            <a:gd name="adj1" fmla="val 60000"/>
            <a:gd name="adj2" fmla="val 50000"/>
          </a:avLst>
        </a:prstGeom>
        <a:solidFill>
          <a:schemeClr val="accent3">
            <a:hueOff val="2710599"/>
            <a:satOff val="100000"/>
            <a:lumOff val="-1470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0CC121-CF57-4F34-923F-A7EAE2A4E5E5}">
      <dsp:nvSpPr>
        <dsp:cNvPr id="0" name=""/>
        <dsp:cNvSpPr/>
      </dsp:nvSpPr>
      <dsp:spPr>
        <a:xfrm>
          <a:off x="6446211" y="1110725"/>
          <a:ext cx="1885968" cy="1508775"/>
        </a:xfrm>
        <a:prstGeom prst="roundRect">
          <a:avLst>
            <a:gd name="adj" fmla="val 10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Multifaceted Student Support Strategy</a:t>
          </a:r>
        </a:p>
      </dsp:txBody>
      <dsp:txXfrm>
        <a:off x="6490402" y="1154916"/>
        <a:ext cx="1797586" cy="1420393"/>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7FCCD5-121B-42E9-8F3E-A504CA761D3D}"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F681E-1CFA-477F-8EA7-77AB10516CFA}" type="slidenum">
              <a:rPr lang="en-US" smtClean="0"/>
              <a:t>‹#›</a:t>
            </a:fld>
            <a:endParaRPr lang="en-US"/>
          </a:p>
        </p:txBody>
      </p:sp>
    </p:spTree>
    <p:extLst>
      <p:ext uri="{BB962C8B-B14F-4D97-AF65-F5344CB8AC3E}">
        <p14:creationId xmlns:p14="http://schemas.microsoft.com/office/powerpoint/2010/main" val="3729018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Assessment Date, Credit and Score should form Spotting Strategy while IMD Band, Highest Education Level, Region, Gender and Previous Attempts should form Mitigation Targets.</a:t>
            </a:r>
          </a:p>
          <a:p>
            <a:r>
              <a:rPr lang="en-IN" dirty="0"/>
              <a:t>My primary audience are university administrators and academic leaders responsible for student retention and student support.</a:t>
            </a:r>
            <a:endParaRPr lang="en-US" sz="1200" dirty="0"/>
          </a:p>
        </p:txBody>
      </p:sp>
      <p:sp>
        <p:nvSpPr>
          <p:cNvPr id="4" name="Slide Number Placeholder 3"/>
          <p:cNvSpPr>
            <a:spLocks noGrp="1"/>
          </p:cNvSpPr>
          <p:nvPr>
            <p:ph type="sldNum" sz="quarter" idx="5"/>
          </p:nvPr>
        </p:nvSpPr>
        <p:spPr/>
        <p:txBody>
          <a:bodyPr/>
          <a:lstStyle/>
          <a:p>
            <a:fld id="{CF6F681E-1CFA-477F-8EA7-77AB10516CFA}" type="slidenum">
              <a:rPr lang="en-US" smtClean="0"/>
              <a:t>2</a:t>
            </a:fld>
            <a:endParaRPr lang="en-US"/>
          </a:p>
        </p:txBody>
      </p:sp>
    </p:spTree>
    <p:extLst>
      <p:ext uri="{BB962C8B-B14F-4D97-AF65-F5344CB8AC3E}">
        <p14:creationId xmlns:p14="http://schemas.microsoft.com/office/powerpoint/2010/main" val="1290449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The structure of learning at university is characterized by: </a:t>
            </a:r>
            <a:r>
              <a:rPr lang="en-US" sz="2000" dirty="0"/>
              <a:t>A fast-paced learning system &amp; High levels of student autonomy.</a:t>
            </a:r>
          </a:p>
          <a:p>
            <a:r>
              <a:rPr lang="en-IN" sz="2400" dirty="0"/>
              <a:t>The problem isn't simply that university education is difficult. Students have considerable independence while content moves quickly. A student who starts struggling can later fall behind before an instructor recognizes the problem.</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3</a:t>
            </a:fld>
            <a:endParaRPr lang="en-US"/>
          </a:p>
        </p:txBody>
      </p:sp>
    </p:spTree>
    <p:extLst>
      <p:ext uri="{BB962C8B-B14F-4D97-AF65-F5344CB8AC3E}">
        <p14:creationId xmlns:p14="http://schemas.microsoft.com/office/powerpoint/2010/main" val="2064045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analysis presented in the visualization above focuses on students who ultimately 'Withdrawn' from their courses. By identifying their </a:t>
            </a:r>
            <a:r>
              <a:rPr lang="en-US" sz="1200" i="1" kern="1200" dirty="0">
                <a:solidFill>
                  <a:schemeClr val="tx1"/>
                </a:solidFill>
                <a:effectLst/>
                <a:latin typeface="+mn-lt"/>
                <a:ea typeface="+mn-ea"/>
                <a:cs typeface="+mn-cs"/>
              </a:rPr>
              <a:t>last recorded assessment date</a:t>
            </a:r>
            <a:r>
              <a:rPr lang="en-US" sz="1200" kern="1200" dirty="0">
                <a:solidFill>
                  <a:schemeClr val="tx1"/>
                </a:solidFill>
                <a:effectLst/>
                <a:latin typeface="+mn-lt"/>
                <a:ea typeface="+mn-ea"/>
                <a:cs typeface="+mn-cs"/>
              </a:rPr>
              <a:t>, information into when students are most likely to drop out is provided.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peaks in this histogram pinpoint specific periods when a higher number of withdrawn students submitted their final assessment before formally dropping out. For early periods in the class, the peaks are noted for the following assessment dates; 19, 24, 34, 49, 54 and 69. </a:t>
            </a:r>
            <a:endParaRPr lang="en-US" dirty="0"/>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4</a:t>
            </a:fld>
            <a:endParaRPr lang="en-US"/>
          </a:p>
        </p:txBody>
      </p:sp>
    </p:spTree>
    <p:extLst>
      <p:ext uri="{BB962C8B-B14F-4D97-AF65-F5344CB8AC3E}">
        <p14:creationId xmlns:p14="http://schemas.microsoft.com/office/powerpoint/2010/main" val="634187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Assessment performance, The line plot shows the smoothed average assessment score trend over date for all </a:t>
            </a:r>
            <a:r>
              <a:rPr lang="en-US" sz="1200" kern="1200" dirty="0" err="1">
                <a:solidFill>
                  <a:schemeClr val="tx1"/>
                </a:solidFill>
                <a:effectLst/>
                <a:latin typeface="+mn-lt"/>
                <a:ea typeface="+mn-ea"/>
                <a:cs typeface="+mn-cs"/>
              </a:rPr>
              <a:t>final_result</a:t>
            </a:r>
            <a:r>
              <a:rPr lang="en-US" sz="1200" kern="1200" dirty="0">
                <a:solidFill>
                  <a:schemeClr val="tx1"/>
                </a:solidFill>
                <a:effectLst/>
                <a:latin typeface="+mn-lt"/>
                <a:ea typeface="+mn-ea"/>
                <a:cs typeface="+mn-cs"/>
              </a:rPr>
              <a:t> categories, with the 'Withdrawn' trend line highlighted in blue. The prominent blue 'Withdrawn' line vividly illustrates that these students frequently maintain a lower average score throughout the module or experience significant, sustained declines early on. Notably, an assessment score of 72 serves as a consistent threshold across assessments below which a student has a higher exposure to the risk of withdrawing from a class.</a:t>
            </a:r>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5</a:t>
            </a:fld>
            <a:endParaRPr lang="en-US"/>
          </a:p>
        </p:txBody>
      </p:sp>
    </p:spTree>
    <p:extLst>
      <p:ext uri="{BB962C8B-B14F-4D97-AF65-F5344CB8AC3E}">
        <p14:creationId xmlns:p14="http://schemas.microsoft.com/office/powerpoint/2010/main" val="1052428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Instructors are tied up with the fast-paced learning system and maintaining the high levels of student autonomy; both of which are outside the control of the instructors.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Rather then changing the system , the university should identify risk earlier and provide targeted support.</a:t>
            </a:r>
          </a:p>
          <a:p>
            <a:r>
              <a:rPr lang="en-US" sz="2400" dirty="0"/>
              <a:t>  </a:t>
            </a:r>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6</a:t>
            </a:fld>
            <a:endParaRPr lang="en-US"/>
          </a:p>
        </p:txBody>
      </p:sp>
    </p:spTree>
    <p:extLst>
      <p:ext uri="{BB962C8B-B14F-4D97-AF65-F5344CB8AC3E}">
        <p14:creationId xmlns:p14="http://schemas.microsoft.com/office/powerpoint/2010/main" val="1957756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The baseline tree model, a Decision Tree Classifier, had a 76.45% accuracy in spotting students at risk of withdrawing from the class. </a:t>
            </a:r>
          </a:p>
          <a:p>
            <a:r>
              <a:rPr lang="en-US" dirty="0"/>
              <a:t>The Gradient Boosting Regressor fell below the baseline with the model having 27.58% less accuracy in spotting students at risk of withdrawing from the class. </a:t>
            </a:r>
          </a:p>
          <a:p>
            <a:r>
              <a:rPr lang="en-US" dirty="0"/>
              <a:t>In comparison, the Random Forest Regressor, outperformed the baseline by having an 84.59% accuracy in spotting an at risk student, an 8.14% improvement in accuracy.</a:t>
            </a:r>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7</a:t>
            </a:fld>
            <a:endParaRPr lang="en-US"/>
          </a:p>
        </p:txBody>
      </p:sp>
    </p:spTree>
    <p:extLst>
      <p:ext uri="{BB962C8B-B14F-4D97-AF65-F5344CB8AC3E}">
        <p14:creationId xmlns:p14="http://schemas.microsoft.com/office/powerpoint/2010/main" val="772583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Feature Importance , With the highest importance, the date is the most critical feature. This suggests that the timing of assessments or student activity relative to the module timeline is a primary driver of how long students 'survive' before withdrawing.</a:t>
            </a:r>
          </a:p>
          <a:p>
            <a:pPr lvl="0"/>
            <a:r>
              <a:rPr lang="en-US" sz="1200" kern="1200" dirty="0">
                <a:solidFill>
                  <a:schemeClr val="tx1"/>
                </a:solidFill>
                <a:effectLst/>
                <a:latin typeface="+mn-lt"/>
                <a:ea typeface="+mn-ea"/>
                <a:cs typeface="+mn-cs"/>
              </a:rPr>
              <a:t>The score on assessments is the second most important feature. Students performing well are likely to remain engaged longer, while consistently low scores might precede withdrawal.</a:t>
            </a:r>
          </a:p>
          <a:p>
            <a:pPr lvl="0"/>
            <a:r>
              <a:rPr lang="en-US" sz="1200" kern="1200" dirty="0">
                <a:solidFill>
                  <a:schemeClr val="tx1"/>
                </a:solidFill>
                <a:effectLst/>
                <a:latin typeface="+mn-lt"/>
                <a:ea typeface="+mn-ea"/>
                <a:cs typeface="+mn-cs"/>
              </a:rPr>
              <a:t>The number of </a:t>
            </a:r>
            <a:r>
              <a:rPr lang="en-US" sz="1200" kern="1200" dirty="0" err="1">
                <a:solidFill>
                  <a:schemeClr val="tx1"/>
                </a:solidFill>
                <a:effectLst/>
                <a:latin typeface="+mn-lt"/>
                <a:ea typeface="+mn-ea"/>
                <a:cs typeface="+mn-cs"/>
              </a:rPr>
              <a:t>studied_credits</a:t>
            </a:r>
            <a:r>
              <a:rPr lang="en-US" sz="1200" kern="1200" dirty="0">
                <a:solidFill>
                  <a:schemeClr val="tx1"/>
                </a:solidFill>
                <a:effectLst/>
                <a:latin typeface="+mn-lt"/>
                <a:ea typeface="+mn-ea"/>
                <a:cs typeface="+mn-cs"/>
              </a:rPr>
              <a:t> is also highly influential. This could reflect a student's workload, commitment, or academic capacity, all of which might impact their persistence in a module.</a:t>
            </a:r>
          </a:p>
        </p:txBody>
      </p:sp>
      <p:sp>
        <p:nvSpPr>
          <p:cNvPr id="4" name="Slide Number Placeholder 3"/>
          <p:cNvSpPr>
            <a:spLocks noGrp="1"/>
          </p:cNvSpPr>
          <p:nvPr>
            <p:ph type="sldNum" sz="quarter" idx="5"/>
          </p:nvPr>
        </p:nvSpPr>
        <p:spPr/>
        <p:txBody>
          <a:bodyPr/>
          <a:lstStyle/>
          <a:p>
            <a:fld id="{CF6F681E-1CFA-477F-8EA7-77AB10516CFA}" type="slidenum">
              <a:rPr lang="en-US" smtClean="0"/>
              <a:t>8</a:t>
            </a:fld>
            <a:endParaRPr lang="en-US"/>
          </a:p>
        </p:txBody>
      </p:sp>
    </p:spTree>
    <p:extLst>
      <p:ext uri="{BB962C8B-B14F-4D97-AF65-F5344CB8AC3E}">
        <p14:creationId xmlns:p14="http://schemas.microsoft.com/office/powerpoint/2010/main" val="177167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Student Characteristics , Several features (highest education , number of previous attempts,  </a:t>
            </a:r>
            <a:r>
              <a:rPr lang="en-US" sz="1200" b="0" i="0" kern="1200" dirty="0" err="1">
                <a:solidFill>
                  <a:schemeClr val="tx1"/>
                </a:solidFill>
                <a:effectLst/>
                <a:latin typeface="+mn-lt"/>
                <a:ea typeface="+mn-ea"/>
                <a:cs typeface="+mn-cs"/>
              </a:rPr>
              <a:t>imd</a:t>
            </a:r>
            <a:r>
              <a:rPr lang="en-US" sz="1200" b="0" i="0" kern="1200" dirty="0">
                <a:solidFill>
                  <a:schemeClr val="tx1"/>
                </a:solidFill>
                <a:effectLst/>
                <a:latin typeface="+mn-lt"/>
                <a:ea typeface="+mn-ea"/>
                <a:cs typeface="+mn-cs"/>
              </a:rPr>
              <a:t> band, region and gender) also appear in the top importances, that </a:t>
            </a:r>
            <a:r>
              <a:rPr lang="en-IN" dirty="0"/>
              <a:t>withdrawal patterns are also associated with student background characteristics. Factors such as socioeconomic status represented by IMD band, previous education, region, gender, and previous attempts appeared as important features. These factors can help us better understand an already identified at-risk student and potentially provide more targeted support.</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9</a:t>
            </a:fld>
            <a:endParaRPr lang="en-US"/>
          </a:p>
        </p:txBody>
      </p:sp>
    </p:spTree>
    <p:extLst>
      <p:ext uri="{BB962C8B-B14F-4D97-AF65-F5344CB8AC3E}">
        <p14:creationId xmlns:p14="http://schemas.microsoft.com/office/powerpoint/2010/main" val="3217001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At-Risk Students can be identified 84.59% of the time when for assessment dates 19, 24, 34, 49 , 54 or 69 the score for the tasks with highest credits fall below 72.  </a:t>
            </a:r>
          </a:p>
        </p:txBody>
      </p:sp>
      <p:sp>
        <p:nvSpPr>
          <p:cNvPr id="4" name="Slide Number Placeholder 3"/>
          <p:cNvSpPr>
            <a:spLocks noGrp="1"/>
          </p:cNvSpPr>
          <p:nvPr>
            <p:ph type="sldNum" sz="quarter" idx="5"/>
          </p:nvPr>
        </p:nvSpPr>
        <p:spPr/>
        <p:txBody>
          <a:bodyPr/>
          <a:lstStyle/>
          <a:p>
            <a:fld id="{CF6F681E-1CFA-477F-8EA7-77AB10516CFA}" type="slidenum">
              <a:rPr lang="en-US" smtClean="0"/>
              <a:t>10</a:t>
            </a:fld>
            <a:endParaRPr lang="en-US"/>
          </a:p>
        </p:txBody>
      </p:sp>
    </p:spTree>
    <p:extLst>
      <p:ext uri="{BB962C8B-B14F-4D97-AF65-F5344CB8AC3E}">
        <p14:creationId xmlns:p14="http://schemas.microsoft.com/office/powerpoint/2010/main" val="629623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Mitigation should offer:</a:t>
            </a:r>
          </a:p>
          <a:p>
            <a:pPr marL="171450" indent="-171450">
              <a:buFontTx/>
              <a:buChar char="-"/>
            </a:pPr>
            <a:r>
              <a:rPr lang="en-US" dirty="0"/>
              <a:t>Financing advice and option for IMD 10-20% Students, and IMD 30-40% Students, </a:t>
            </a:r>
          </a:p>
          <a:p>
            <a:pPr marL="171450" indent="-171450">
              <a:buFontTx/>
              <a:buChar char="-"/>
            </a:pPr>
            <a:r>
              <a:rPr lang="en-US" dirty="0"/>
              <a:t>And class work support for Students with Highest Education Lower than A Level, Students with Highest Education HE Qualification, Students from South West Region, Male Students and Students with Previous Attempts for Class</a:t>
            </a:r>
          </a:p>
        </p:txBody>
      </p:sp>
      <p:sp>
        <p:nvSpPr>
          <p:cNvPr id="4" name="Slide Number Placeholder 3"/>
          <p:cNvSpPr>
            <a:spLocks noGrp="1"/>
          </p:cNvSpPr>
          <p:nvPr>
            <p:ph type="sldNum" sz="quarter" idx="5"/>
          </p:nvPr>
        </p:nvSpPr>
        <p:spPr/>
        <p:txBody>
          <a:bodyPr/>
          <a:lstStyle/>
          <a:p>
            <a:fld id="{CF6F681E-1CFA-477F-8EA7-77AB10516CFA}" type="slidenum">
              <a:rPr lang="en-US" smtClean="0"/>
              <a:t>11</a:t>
            </a:fld>
            <a:endParaRPr lang="en-US"/>
          </a:p>
        </p:txBody>
      </p:sp>
    </p:spTree>
    <p:extLst>
      <p:ext uri="{BB962C8B-B14F-4D97-AF65-F5344CB8AC3E}">
        <p14:creationId xmlns:p14="http://schemas.microsoft.com/office/powerpoint/2010/main" val="3725855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data is the focus on a single educational institution, The Open University; which in turn limits generalizability of the data for all universities. </a:t>
            </a:r>
          </a:p>
          <a:p>
            <a:r>
              <a:rPr lang="en-US" sz="1200" dirty="0"/>
              <a:t>Another limitation is that the data does not contain direct intervention information with potential predictors offering inferred recommendations instead. </a:t>
            </a:r>
          </a:p>
          <a:p>
            <a:r>
              <a:rPr lang="en-US" sz="1200" dirty="0"/>
              <a:t>Additionally, the student support mechanism has 7 aspects capturing the different risks associated with student withdrawing from the class, outside assessment. For each aspect a specific approach would be needed making the support system multifaceted; the cost of having a multifaceted support strategy might be too high.  </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12</a:t>
            </a:fld>
            <a:endParaRPr lang="en-US"/>
          </a:p>
        </p:txBody>
      </p:sp>
    </p:spTree>
    <p:extLst>
      <p:ext uri="{BB962C8B-B14F-4D97-AF65-F5344CB8AC3E}">
        <p14:creationId xmlns:p14="http://schemas.microsoft.com/office/powerpoint/2010/main" val="4219394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AA1CB-4BE9-4F64-8F7B-613E487560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548DC-7284-4D8A-A979-4AAE589A2A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5B5127-3830-4DB4-8074-2E7FFE8F6C7F}"/>
              </a:ext>
            </a:extLst>
          </p:cNvPr>
          <p:cNvSpPr>
            <a:spLocks noGrp="1"/>
          </p:cNvSpPr>
          <p:nvPr>
            <p:ph type="dt" sz="half" idx="10"/>
          </p:nvPr>
        </p:nvSpPr>
        <p:spPr/>
        <p:txBody>
          <a:bodyPr/>
          <a:lstStyle/>
          <a:p>
            <a:fld id="{1B05EB68-5896-45DC-8C5A-C775816B74C0}" type="datetime1">
              <a:rPr lang="en-US" smtClean="0"/>
              <a:t>8/20/2026</a:t>
            </a:fld>
            <a:endParaRPr lang="en-US"/>
          </a:p>
        </p:txBody>
      </p:sp>
      <p:sp>
        <p:nvSpPr>
          <p:cNvPr id="5" name="Footer Placeholder 4">
            <a:extLst>
              <a:ext uri="{FF2B5EF4-FFF2-40B4-BE49-F238E27FC236}">
                <a16:creationId xmlns:a16="http://schemas.microsoft.com/office/drawing/2014/main" id="{754D3BA2-4EF2-4707-B24D-D29A9DB8B1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AD1A3-1B74-4018-85C9-8023A3A7C0A5}"/>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642411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E107-062B-42EC-8AB1-FAAA61C279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CAEBC-6EDD-4840-B28E-275B4ABF24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A20CA-A350-4C4F-830C-290E729ABCF8}"/>
              </a:ext>
            </a:extLst>
          </p:cNvPr>
          <p:cNvSpPr>
            <a:spLocks noGrp="1"/>
          </p:cNvSpPr>
          <p:nvPr>
            <p:ph type="dt" sz="half" idx="10"/>
          </p:nvPr>
        </p:nvSpPr>
        <p:spPr/>
        <p:txBody>
          <a:bodyPr/>
          <a:lstStyle/>
          <a:p>
            <a:fld id="{1ACF102E-A5A0-4F67-9BDA-98516A106A45}" type="datetime1">
              <a:rPr lang="en-US" smtClean="0"/>
              <a:t>8/20/2026</a:t>
            </a:fld>
            <a:endParaRPr lang="en-US"/>
          </a:p>
        </p:txBody>
      </p:sp>
      <p:sp>
        <p:nvSpPr>
          <p:cNvPr id="5" name="Footer Placeholder 4">
            <a:extLst>
              <a:ext uri="{FF2B5EF4-FFF2-40B4-BE49-F238E27FC236}">
                <a16:creationId xmlns:a16="http://schemas.microsoft.com/office/drawing/2014/main" id="{32F9D954-1042-4A1A-96D0-A9337BB5D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36256-55A6-48DB-9DF5-F456A91148C6}"/>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09403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FCAE-9916-4CEE-9C12-35330E3483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9F5913-35F9-4699-B89A-77AEB1863D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2ED1A1-98AF-46B3-84C8-A7A34DD37117}"/>
              </a:ext>
            </a:extLst>
          </p:cNvPr>
          <p:cNvSpPr>
            <a:spLocks noGrp="1"/>
          </p:cNvSpPr>
          <p:nvPr>
            <p:ph type="dt" sz="half" idx="10"/>
          </p:nvPr>
        </p:nvSpPr>
        <p:spPr/>
        <p:txBody>
          <a:bodyPr/>
          <a:lstStyle/>
          <a:p>
            <a:fld id="{B97B53C3-5EEC-44A0-9152-DFF43DA6183B}" type="datetime1">
              <a:rPr lang="en-US" smtClean="0"/>
              <a:t>8/20/2026</a:t>
            </a:fld>
            <a:endParaRPr lang="en-US"/>
          </a:p>
        </p:txBody>
      </p:sp>
      <p:sp>
        <p:nvSpPr>
          <p:cNvPr id="5" name="Footer Placeholder 4">
            <a:extLst>
              <a:ext uri="{FF2B5EF4-FFF2-40B4-BE49-F238E27FC236}">
                <a16:creationId xmlns:a16="http://schemas.microsoft.com/office/drawing/2014/main" id="{D89D7E6D-53E5-482D-913A-3C834AE69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BA867-1F20-4910-8DB1-52B6FFFBBC18}"/>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3657471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CC47-B5C8-4EFA-A106-6425E6AB02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B27DF-33AA-44A9-B4B6-34DD9FBF2B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BFC16A-10BE-4514-94E6-B5B4C69A3E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D6A80F-4153-4E4E-833C-B55E4A35DBBC}"/>
              </a:ext>
            </a:extLst>
          </p:cNvPr>
          <p:cNvSpPr>
            <a:spLocks noGrp="1"/>
          </p:cNvSpPr>
          <p:nvPr>
            <p:ph type="dt" sz="half" idx="10"/>
          </p:nvPr>
        </p:nvSpPr>
        <p:spPr/>
        <p:txBody>
          <a:bodyPr/>
          <a:lstStyle/>
          <a:p>
            <a:fld id="{01BF89C1-61AF-4724-A882-504B0D2E1708}" type="datetime1">
              <a:rPr lang="en-US" smtClean="0"/>
              <a:t>8/20/2026</a:t>
            </a:fld>
            <a:endParaRPr lang="en-US"/>
          </a:p>
        </p:txBody>
      </p:sp>
      <p:sp>
        <p:nvSpPr>
          <p:cNvPr id="6" name="Footer Placeholder 5">
            <a:extLst>
              <a:ext uri="{FF2B5EF4-FFF2-40B4-BE49-F238E27FC236}">
                <a16:creationId xmlns:a16="http://schemas.microsoft.com/office/drawing/2014/main" id="{2AB8E4BC-0649-4B69-AD17-F8831655AF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B637B2-38C5-4271-A509-5AEBBCAC8F2A}"/>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414150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D343-8ACE-4251-B1B6-E15F9A8BB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77FD24-A886-436D-A28E-24C9DD257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5DD45-E587-4D63-93D8-13C7DA3D9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58CAEE-77A2-46F2-9D83-D8FBE4764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136E12-6FA0-446D-8A16-122168509F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29EE0E-4F1B-4A23-8E4D-9C32E1DC0DAB}"/>
              </a:ext>
            </a:extLst>
          </p:cNvPr>
          <p:cNvSpPr>
            <a:spLocks noGrp="1"/>
          </p:cNvSpPr>
          <p:nvPr>
            <p:ph type="dt" sz="half" idx="10"/>
          </p:nvPr>
        </p:nvSpPr>
        <p:spPr/>
        <p:txBody>
          <a:bodyPr/>
          <a:lstStyle/>
          <a:p>
            <a:fld id="{20FAC73E-1B05-4083-9466-8FA967AA7AFE}" type="datetime1">
              <a:rPr lang="en-US" smtClean="0"/>
              <a:t>8/20/2026</a:t>
            </a:fld>
            <a:endParaRPr lang="en-US"/>
          </a:p>
        </p:txBody>
      </p:sp>
      <p:sp>
        <p:nvSpPr>
          <p:cNvPr id="8" name="Footer Placeholder 7">
            <a:extLst>
              <a:ext uri="{FF2B5EF4-FFF2-40B4-BE49-F238E27FC236}">
                <a16:creationId xmlns:a16="http://schemas.microsoft.com/office/drawing/2014/main" id="{6E05B090-3D67-4C26-80D1-9100195A92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E7B9D3-2ED9-4031-832D-B114C9A25D84}"/>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712591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A1A56-C597-4F05-9C32-DC7FE6BE79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4953F8-7749-4762-BEB8-E004BE6837D9}"/>
              </a:ext>
            </a:extLst>
          </p:cNvPr>
          <p:cNvSpPr>
            <a:spLocks noGrp="1"/>
          </p:cNvSpPr>
          <p:nvPr>
            <p:ph type="dt" sz="half" idx="10"/>
          </p:nvPr>
        </p:nvSpPr>
        <p:spPr/>
        <p:txBody>
          <a:bodyPr/>
          <a:lstStyle/>
          <a:p>
            <a:fld id="{07C729E7-E771-4411-AFC7-F4BA90F6F14B}" type="datetime1">
              <a:rPr lang="en-US" smtClean="0"/>
              <a:t>8/20/2026</a:t>
            </a:fld>
            <a:endParaRPr lang="en-US"/>
          </a:p>
        </p:txBody>
      </p:sp>
      <p:sp>
        <p:nvSpPr>
          <p:cNvPr id="4" name="Footer Placeholder 3">
            <a:extLst>
              <a:ext uri="{FF2B5EF4-FFF2-40B4-BE49-F238E27FC236}">
                <a16:creationId xmlns:a16="http://schemas.microsoft.com/office/drawing/2014/main" id="{E83C2BE3-1F6B-4611-A1E8-BC592BDEFB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699861-80CD-4B63-B368-1F80D73F9255}"/>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83291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58D9F8-34A9-45ED-97A6-71407C9DE02F}"/>
              </a:ext>
            </a:extLst>
          </p:cNvPr>
          <p:cNvSpPr>
            <a:spLocks noGrp="1"/>
          </p:cNvSpPr>
          <p:nvPr>
            <p:ph type="dt" sz="half" idx="10"/>
          </p:nvPr>
        </p:nvSpPr>
        <p:spPr/>
        <p:txBody>
          <a:bodyPr/>
          <a:lstStyle/>
          <a:p>
            <a:fld id="{AE12B9EB-2A3E-4360-A60E-6C2992C69F9D}" type="datetime1">
              <a:rPr lang="en-US" smtClean="0"/>
              <a:t>8/20/2026</a:t>
            </a:fld>
            <a:endParaRPr lang="en-US"/>
          </a:p>
        </p:txBody>
      </p:sp>
      <p:sp>
        <p:nvSpPr>
          <p:cNvPr id="3" name="Footer Placeholder 2">
            <a:extLst>
              <a:ext uri="{FF2B5EF4-FFF2-40B4-BE49-F238E27FC236}">
                <a16:creationId xmlns:a16="http://schemas.microsoft.com/office/drawing/2014/main" id="{1D41AD0B-9DE1-4C01-A6B8-4BEE284DF5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426ED7-622D-45B0-813C-163625B6B0AB}"/>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670477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D83EF-051F-4D61-9FA4-B67643AFC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39CFBE-9827-4346-93EF-ADEE25BE9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4EC85A-260F-4380-99E1-87AA985DA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A85B0-090F-442F-9EB7-0E121549BA61}"/>
              </a:ext>
            </a:extLst>
          </p:cNvPr>
          <p:cNvSpPr>
            <a:spLocks noGrp="1"/>
          </p:cNvSpPr>
          <p:nvPr>
            <p:ph type="dt" sz="half" idx="10"/>
          </p:nvPr>
        </p:nvSpPr>
        <p:spPr/>
        <p:txBody>
          <a:bodyPr/>
          <a:lstStyle/>
          <a:p>
            <a:fld id="{2364B161-F511-4C25-90F3-44EB22C169EF}" type="datetime1">
              <a:rPr lang="en-US" smtClean="0"/>
              <a:t>8/20/2026</a:t>
            </a:fld>
            <a:endParaRPr lang="en-US"/>
          </a:p>
        </p:txBody>
      </p:sp>
      <p:sp>
        <p:nvSpPr>
          <p:cNvPr id="6" name="Footer Placeholder 5">
            <a:extLst>
              <a:ext uri="{FF2B5EF4-FFF2-40B4-BE49-F238E27FC236}">
                <a16:creationId xmlns:a16="http://schemas.microsoft.com/office/drawing/2014/main" id="{CF72BA96-85F4-469E-95DE-3E19864411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1AD1C-CEE8-467B-A9DA-5FCB79E81079}"/>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67505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32F2-7F7F-46C6-942C-E6EB654893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F67F72-0088-4C89-BF18-D1807EDDF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72DEE-A88A-49B0-8EFD-5EEDA44A9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83CDA2-A01E-469F-8D14-94798E6AC692}"/>
              </a:ext>
            </a:extLst>
          </p:cNvPr>
          <p:cNvSpPr>
            <a:spLocks noGrp="1"/>
          </p:cNvSpPr>
          <p:nvPr>
            <p:ph type="dt" sz="half" idx="10"/>
          </p:nvPr>
        </p:nvSpPr>
        <p:spPr/>
        <p:txBody>
          <a:bodyPr/>
          <a:lstStyle/>
          <a:p>
            <a:fld id="{A05898A4-8E7F-4583-8FA1-3081CB0A252F}" type="datetime1">
              <a:rPr lang="en-US" smtClean="0"/>
              <a:t>8/20/2026</a:t>
            </a:fld>
            <a:endParaRPr lang="en-US"/>
          </a:p>
        </p:txBody>
      </p:sp>
      <p:sp>
        <p:nvSpPr>
          <p:cNvPr id="6" name="Footer Placeholder 5">
            <a:extLst>
              <a:ext uri="{FF2B5EF4-FFF2-40B4-BE49-F238E27FC236}">
                <a16:creationId xmlns:a16="http://schemas.microsoft.com/office/drawing/2014/main" id="{1D672731-6B39-4600-8B34-FB3D7AE644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BA3A02-182D-4770-BFF8-A6962D9FE248}"/>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171165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F5487-FB57-42A8-A460-B970EA6D95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AB3D28-975E-4C1C-909F-6AF54BE81D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2BD4A-E12B-42FF-8932-60BADA18D0B0}"/>
              </a:ext>
            </a:extLst>
          </p:cNvPr>
          <p:cNvSpPr>
            <a:spLocks noGrp="1"/>
          </p:cNvSpPr>
          <p:nvPr>
            <p:ph type="dt" sz="half" idx="10"/>
          </p:nvPr>
        </p:nvSpPr>
        <p:spPr/>
        <p:txBody>
          <a:bodyPr/>
          <a:lstStyle/>
          <a:p>
            <a:fld id="{A051C09D-6E12-4AD5-BE8B-149362513106}" type="datetime1">
              <a:rPr lang="en-US" smtClean="0"/>
              <a:t>8/20/2026</a:t>
            </a:fld>
            <a:endParaRPr lang="en-US"/>
          </a:p>
        </p:txBody>
      </p:sp>
      <p:sp>
        <p:nvSpPr>
          <p:cNvPr id="5" name="Footer Placeholder 4">
            <a:extLst>
              <a:ext uri="{FF2B5EF4-FFF2-40B4-BE49-F238E27FC236}">
                <a16:creationId xmlns:a16="http://schemas.microsoft.com/office/drawing/2014/main" id="{7A6F8CB5-12CD-4BB4-B847-A5F975E16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478C2-3DE5-43BC-B243-8CD076CA0D10}"/>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70654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7B993A-E5DA-4CDE-B6D6-16714C48F7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FEB269-0C57-49B6-8F9D-2C3979224A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AEC5D7-17F0-456C-BA01-3899B95E1D7F}"/>
              </a:ext>
            </a:extLst>
          </p:cNvPr>
          <p:cNvSpPr>
            <a:spLocks noGrp="1"/>
          </p:cNvSpPr>
          <p:nvPr>
            <p:ph type="dt" sz="half" idx="10"/>
          </p:nvPr>
        </p:nvSpPr>
        <p:spPr/>
        <p:txBody>
          <a:bodyPr/>
          <a:lstStyle/>
          <a:p>
            <a:fld id="{3F1E7F96-724D-40DB-8D11-34052439D323}" type="datetime1">
              <a:rPr lang="en-US" smtClean="0"/>
              <a:t>8/20/2026</a:t>
            </a:fld>
            <a:endParaRPr lang="en-US"/>
          </a:p>
        </p:txBody>
      </p:sp>
      <p:sp>
        <p:nvSpPr>
          <p:cNvPr id="5" name="Footer Placeholder 4">
            <a:extLst>
              <a:ext uri="{FF2B5EF4-FFF2-40B4-BE49-F238E27FC236}">
                <a16:creationId xmlns:a16="http://schemas.microsoft.com/office/drawing/2014/main" id="{981F574C-6986-426D-9EC0-D72BC1B9A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BA2EE3-3B9D-46CB-B878-10FEAA0DC620}"/>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3367905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F811A-5428-4881-825C-820590B07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185FA7-45BD-4E8B-9C9F-46D009E7D8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49BDE8-DEB6-4B4B-BB6A-CED5F2121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C6F2C-1B2D-443C-9309-5D17EF85E46F}" type="datetime1">
              <a:rPr lang="en-US" smtClean="0"/>
              <a:t>8/20/2026</a:t>
            </a:fld>
            <a:endParaRPr lang="en-US"/>
          </a:p>
        </p:txBody>
      </p:sp>
      <p:sp>
        <p:nvSpPr>
          <p:cNvPr id="5" name="Footer Placeholder 4">
            <a:extLst>
              <a:ext uri="{FF2B5EF4-FFF2-40B4-BE49-F238E27FC236}">
                <a16:creationId xmlns:a16="http://schemas.microsoft.com/office/drawing/2014/main" id="{409BF339-64E6-40CB-A059-996D1587BD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CC44C2-2E94-4D08-B297-3C820AA17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530B2-E2E6-462C-ACF8-2A7BCFFCA905}" type="slidenum">
              <a:rPr lang="en-US" smtClean="0"/>
              <a:t>‹#›</a:t>
            </a:fld>
            <a:endParaRPr lang="en-US"/>
          </a:p>
        </p:txBody>
      </p:sp>
    </p:spTree>
    <p:extLst>
      <p:ext uri="{BB962C8B-B14F-4D97-AF65-F5344CB8AC3E}">
        <p14:creationId xmlns:p14="http://schemas.microsoft.com/office/powerpoint/2010/main" val="4035367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9BAA-6C33-4932-891F-BDC997383EA4}"/>
              </a:ext>
            </a:extLst>
          </p:cNvPr>
          <p:cNvSpPr>
            <a:spLocks noGrp="1"/>
          </p:cNvSpPr>
          <p:nvPr>
            <p:ph type="ctrTitle"/>
          </p:nvPr>
        </p:nvSpPr>
        <p:spPr>
          <a:xfrm>
            <a:off x="6636775" y="1342923"/>
            <a:ext cx="5368413" cy="1120725"/>
          </a:xfrm>
        </p:spPr>
        <p:txBody>
          <a:bodyPr>
            <a:noAutofit/>
          </a:bodyPr>
          <a:lstStyle/>
          <a:p>
            <a:r>
              <a:rPr lang="en-US" sz="5400" dirty="0">
                <a:solidFill>
                  <a:schemeClr val="bg1"/>
                </a:solidFill>
              </a:rPr>
              <a:t>Learning Analytics </a:t>
            </a:r>
            <a:r>
              <a:rPr lang="en-US" sz="2800" dirty="0">
                <a:solidFill>
                  <a:schemeClr val="bg1"/>
                </a:solidFill>
              </a:rPr>
              <a:t>Spotting an At-Risk Student in Time</a:t>
            </a:r>
            <a:endParaRPr lang="en-US" sz="4000" dirty="0">
              <a:solidFill>
                <a:schemeClr val="bg1"/>
              </a:solidFill>
            </a:endParaRPr>
          </a:p>
        </p:txBody>
      </p:sp>
    </p:spTree>
    <p:extLst>
      <p:ext uri="{BB962C8B-B14F-4D97-AF65-F5344CB8AC3E}">
        <p14:creationId xmlns:p14="http://schemas.microsoft.com/office/powerpoint/2010/main" val="2961662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Assessment Date, Credit and Score should form Spotting Strategy while IMD Band, Highest Education Level, Region, Gender and Previous Attempts should form Mitigation Targets</a:t>
            </a:r>
          </a:p>
        </p:txBody>
      </p:sp>
      <p:sp>
        <p:nvSpPr>
          <p:cNvPr id="14" name="Text Placeholder 13">
            <a:extLst>
              <a:ext uri="{FF2B5EF4-FFF2-40B4-BE49-F238E27FC236}">
                <a16:creationId xmlns:a16="http://schemas.microsoft.com/office/drawing/2014/main" id="{5F6695F9-D3BA-46B4-92FB-35EF72EE1DE5}"/>
              </a:ext>
            </a:extLst>
          </p:cNvPr>
          <p:cNvSpPr>
            <a:spLocks noGrp="1"/>
          </p:cNvSpPr>
          <p:nvPr>
            <p:ph type="body" idx="1"/>
          </p:nvPr>
        </p:nvSpPr>
        <p:spPr>
          <a:xfrm>
            <a:off x="0" y="1681163"/>
            <a:ext cx="5157787" cy="823912"/>
          </a:xfrm>
        </p:spPr>
        <p:txBody>
          <a:bodyPr/>
          <a:lstStyle/>
          <a:p>
            <a:pPr algn="ctr"/>
            <a:r>
              <a:rPr lang="en-US" dirty="0"/>
              <a:t>Spotting Strategy</a:t>
            </a:r>
          </a:p>
        </p:txBody>
      </p:sp>
      <p:graphicFrame>
        <p:nvGraphicFramePr>
          <p:cNvPr id="12" name="Content Placeholder 11">
            <a:extLst>
              <a:ext uri="{FF2B5EF4-FFF2-40B4-BE49-F238E27FC236}">
                <a16:creationId xmlns:a16="http://schemas.microsoft.com/office/drawing/2014/main" id="{6B00A284-C204-4CCF-9D42-4363BFEFE934}"/>
              </a:ext>
            </a:extLst>
          </p:cNvPr>
          <p:cNvGraphicFramePr>
            <a:graphicFrameLocks noGrp="1"/>
          </p:cNvGraphicFramePr>
          <p:nvPr>
            <p:ph sz="half" idx="2"/>
            <p:extLst>
              <p:ext uri="{D42A27DB-BD31-4B8C-83A1-F6EECF244321}">
                <p14:modId xmlns:p14="http://schemas.microsoft.com/office/powerpoint/2010/main" val="3223712379"/>
              </p:ext>
            </p:extLst>
          </p:nvPr>
        </p:nvGraphicFramePr>
        <p:xfrm>
          <a:off x="0" y="2505075"/>
          <a:ext cx="5157787"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 Placeholder 14">
            <a:extLst>
              <a:ext uri="{FF2B5EF4-FFF2-40B4-BE49-F238E27FC236}">
                <a16:creationId xmlns:a16="http://schemas.microsoft.com/office/drawing/2014/main" id="{A67CDAF0-AEBA-4AC5-8141-4F061DA277BD}"/>
              </a:ext>
            </a:extLst>
          </p:cNvPr>
          <p:cNvSpPr>
            <a:spLocks noGrp="1"/>
          </p:cNvSpPr>
          <p:nvPr>
            <p:ph type="body" sz="quarter" idx="3"/>
          </p:nvPr>
        </p:nvSpPr>
        <p:spPr>
          <a:xfrm>
            <a:off x="7008812" y="1690688"/>
            <a:ext cx="5183188" cy="823912"/>
          </a:xfrm>
        </p:spPr>
        <p:txBody>
          <a:bodyPr/>
          <a:lstStyle/>
          <a:p>
            <a:pPr algn="ctr"/>
            <a:r>
              <a:rPr lang="en-US" dirty="0"/>
              <a:t>Mitigation Strategy</a:t>
            </a:r>
          </a:p>
        </p:txBody>
      </p:sp>
      <p:graphicFrame>
        <p:nvGraphicFramePr>
          <p:cNvPr id="17" name="Content Placeholder 16">
            <a:extLst>
              <a:ext uri="{FF2B5EF4-FFF2-40B4-BE49-F238E27FC236}">
                <a16:creationId xmlns:a16="http://schemas.microsoft.com/office/drawing/2014/main" id="{451D79D1-8486-4353-BC9D-960297CC5353}"/>
              </a:ext>
            </a:extLst>
          </p:cNvPr>
          <p:cNvGraphicFramePr>
            <a:graphicFrameLocks noGrp="1"/>
          </p:cNvGraphicFramePr>
          <p:nvPr>
            <p:ph sz="quarter" idx="4"/>
            <p:extLst>
              <p:ext uri="{D42A27DB-BD31-4B8C-83A1-F6EECF244321}">
                <p14:modId xmlns:p14="http://schemas.microsoft.com/office/powerpoint/2010/main" val="889313112"/>
              </p:ext>
            </p:extLst>
          </p:nvPr>
        </p:nvGraphicFramePr>
        <p:xfrm>
          <a:off x="7008812" y="2514600"/>
          <a:ext cx="5183188" cy="36845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2</a:t>
            </a:fld>
            <a:endParaRPr lang="en-US"/>
          </a:p>
        </p:txBody>
      </p:sp>
      <p:cxnSp>
        <p:nvCxnSpPr>
          <p:cNvPr id="19" name="Straight Arrow Connector 18">
            <a:extLst>
              <a:ext uri="{FF2B5EF4-FFF2-40B4-BE49-F238E27FC236}">
                <a16:creationId xmlns:a16="http://schemas.microsoft.com/office/drawing/2014/main" id="{56ED4E19-C816-4E87-B670-BB8F0F9F0468}"/>
              </a:ext>
            </a:extLst>
          </p:cNvPr>
          <p:cNvCxnSpPr/>
          <p:nvPr/>
        </p:nvCxnSpPr>
        <p:spPr>
          <a:xfrm>
            <a:off x="4819650" y="4419600"/>
            <a:ext cx="252412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84495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090623-98B2-4390-9939-6AC15DCF3F93}"/>
              </a:ext>
            </a:extLst>
          </p:cNvPr>
          <p:cNvPicPr>
            <a:picLocks noChangeAspect="1"/>
          </p:cNvPicPr>
          <p:nvPr/>
        </p:nvPicPr>
        <p:blipFill rotWithShape="1">
          <a:blip r:embed="rId3">
            <a:extLst>
              <a:ext uri="{28A0092B-C50C-407E-A947-70E740481C1C}">
                <a14:useLocalDpi xmlns:a14="http://schemas.microsoft.com/office/drawing/2010/main" val="0"/>
              </a:ext>
            </a:extLst>
          </a:blip>
          <a:srcRect t="6528" b="12083"/>
          <a:stretch/>
        </p:blipFill>
        <p:spPr>
          <a:xfrm>
            <a:off x="1416" y="1257301"/>
            <a:ext cx="12185821" cy="5600700"/>
          </a:xfrm>
          <a:prstGeom prst="rect">
            <a:avLst/>
          </a:prstGeom>
        </p:spPr>
      </p:pic>
      <p:sp>
        <p:nvSpPr>
          <p:cNvPr id="2" name="Title 1">
            <a:extLst>
              <a:ext uri="{FF2B5EF4-FFF2-40B4-BE49-F238E27FC236}">
                <a16:creationId xmlns:a16="http://schemas.microsoft.com/office/drawing/2014/main" id="{3E05C9D0-5D7C-4322-A6E8-A2708FF66E8C}"/>
              </a:ext>
            </a:extLst>
          </p:cNvPr>
          <p:cNvSpPr>
            <a:spLocks noGrp="1"/>
          </p:cNvSpPr>
          <p:nvPr>
            <p:ph type="title"/>
          </p:nvPr>
        </p:nvSpPr>
        <p:spPr>
          <a:xfrm>
            <a:off x="838200" y="-25400"/>
            <a:ext cx="10515600" cy="1325563"/>
          </a:xfrm>
        </p:spPr>
        <p:txBody>
          <a:bodyPr>
            <a:normAutofit/>
          </a:bodyPr>
          <a:lstStyle/>
          <a:p>
            <a:r>
              <a:rPr lang="en-US" sz="2800" dirty="0"/>
              <a:t>Pace of Learning and Increased Autonomy Expose Students to Risk of Being Left Behind in Classes</a:t>
            </a:r>
          </a:p>
        </p:txBody>
      </p:sp>
      <p:sp>
        <p:nvSpPr>
          <p:cNvPr id="3" name="Content Placeholder 2">
            <a:extLst>
              <a:ext uri="{FF2B5EF4-FFF2-40B4-BE49-F238E27FC236}">
                <a16:creationId xmlns:a16="http://schemas.microsoft.com/office/drawing/2014/main" id="{47C555EB-2415-4564-93BE-870267F42B29}"/>
              </a:ext>
            </a:extLst>
          </p:cNvPr>
          <p:cNvSpPr>
            <a:spLocks noGrp="1"/>
          </p:cNvSpPr>
          <p:nvPr>
            <p:ph idx="1"/>
          </p:nvPr>
        </p:nvSpPr>
        <p:spPr/>
        <p:txBody>
          <a:bodyPr>
            <a:normAutofit/>
          </a:bodyPr>
          <a:lstStyle/>
          <a:p>
            <a:endParaRPr lang="en-US" sz="2400" dirty="0"/>
          </a:p>
          <a:p>
            <a:pPr marL="0" indent="0">
              <a:buNone/>
            </a:pPr>
            <a:endParaRPr lang="en-US" sz="2400" dirty="0"/>
          </a:p>
          <a:p>
            <a:endParaRPr lang="en-US" sz="2400" dirty="0"/>
          </a:p>
        </p:txBody>
      </p:sp>
      <p:sp>
        <p:nvSpPr>
          <p:cNvPr id="4" name="Slide Number Placeholder 3">
            <a:extLst>
              <a:ext uri="{FF2B5EF4-FFF2-40B4-BE49-F238E27FC236}">
                <a16:creationId xmlns:a16="http://schemas.microsoft.com/office/drawing/2014/main" id="{3E239ECA-A004-452D-AADD-172EB60ED31F}"/>
              </a:ext>
            </a:extLst>
          </p:cNvPr>
          <p:cNvSpPr>
            <a:spLocks noGrp="1"/>
          </p:cNvSpPr>
          <p:nvPr>
            <p:ph type="sldNum" sz="quarter" idx="12"/>
          </p:nvPr>
        </p:nvSpPr>
        <p:spPr/>
        <p:txBody>
          <a:bodyPr/>
          <a:lstStyle/>
          <a:p>
            <a:fld id="{662530B2-E2E6-462C-ACF8-2A7BCFFCA905}" type="slidenum">
              <a:rPr lang="en-US" smtClean="0"/>
              <a:t>3</a:t>
            </a:fld>
            <a:endParaRPr lang="en-US"/>
          </a:p>
        </p:txBody>
      </p:sp>
    </p:spTree>
    <p:extLst>
      <p:ext uri="{BB962C8B-B14F-4D97-AF65-F5344CB8AC3E}">
        <p14:creationId xmlns:p14="http://schemas.microsoft.com/office/powerpoint/2010/main" val="2262534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0B9DE2-B640-4248-B987-2AD1B1DD9030}"/>
              </a:ext>
            </a:extLst>
          </p:cNvPr>
          <p:cNvSpPr>
            <a:spLocks noGrp="1"/>
          </p:cNvSpPr>
          <p:nvPr>
            <p:ph type="sldNum" sz="quarter" idx="12"/>
          </p:nvPr>
        </p:nvSpPr>
        <p:spPr/>
        <p:txBody>
          <a:bodyPr/>
          <a:lstStyle/>
          <a:p>
            <a:fld id="{662530B2-E2E6-462C-ACF8-2A7BCFFCA905}" type="slidenum">
              <a:rPr lang="en-US" smtClean="0"/>
              <a:t>4</a:t>
            </a:fld>
            <a:endParaRPr lang="en-US"/>
          </a:p>
        </p:txBody>
      </p:sp>
      <p:pic>
        <p:nvPicPr>
          <p:cNvPr id="8" name="Picture 6">
            <a:extLst>
              <a:ext uri="{FF2B5EF4-FFF2-40B4-BE49-F238E27FC236}">
                <a16:creationId xmlns:a16="http://schemas.microsoft.com/office/drawing/2014/main" id="{402079B5-3D9B-402E-8205-3FE6D5534EB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3580" y="982952"/>
            <a:ext cx="11804839" cy="4892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505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233DC1-787F-4EC1-B337-7892FEE9D406}"/>
              </a:ext>
            </a:extLst>
          </p:cNvPr>
          <p:cNvSpPr>
            <a:spLocks noGrp="1"/>
          </p:cNvSpPr>
          <p:nvPr>
            <p:ph type="sldNum" sz="quarter" idx="12"/>
          </p:nvPr>
        </p:nvSpPr>
        <p:spPr/>
        <p:txBody>
          <a:bodyPr/>
          <a:lstStyle/>
          <a:p>
            <a:fld id="{662530B2-E2E6-462C-ACF8-2A7BCFFCA905}" type="slidenum">
              <a:rPr lang="en-US" smtClean="0"/>
              <a:t>5</a:t>
            </a:fld>
            <a:endParaRPr lang="en-US"/>
          </a:p>
        </p:txBody>
      </p:sp>
      <p:pic>
        <p:nvPicPr>
          <p:cNvPr id="5" name="Content Placeholder 4" descr="C:\Users\USER\AppData\Local\Microsoft\Windows\INetCache\Content.MSO\176EBECD.tmp">
            <a:extLst>
              <a:ext uri="{FF2B5EF4-FFF2-40B4-BE49-F238E27FC236}">
                <a16:creationId xmlns:a16="http://schemas.microsoft.com/office/drawing/2014/main" id="{E3B12996-A7A1-4AAF-AEFB-BB844734630F}"/>
              </a:ext>
            </a:extLst>
          </p:cNvPr>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33412" y="671512"/>
            <a:ext cx="10925175" cy="5514975"/>
          </a:xfrm>
          <a:prstGeom prst="rect">
            <a:avLst/>
          </a:prstGeom>
          <a:noFill/>
          <a:ln>
            <a:noFill/>
          </a:ln>
        </p:spPr>
      </p:pic>
    </p:spTree>
    <p:extLst>
      <p:ext uri="{BB962C8B-B14F-4D97-AF65-F5344CB8AC3E}">
        <p14:creationId xmlns:p14="http://schemas.microsoft.com/office/powerpoint/2010/main" val="88719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6C9AB71-A079-48EE-A539-F13167CBB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033" y="3446463"/>
            <a:ext cx="2740025" cy="2740025"/>
          </a:xfrm>
          <a:prstGeom prst="rect">
            <a:avLst/>
          </a:prstGeom>
        </p:spPr>
      </p:pic>
      <p:pic>
        <p:nvPicPr>
          <p:cNvPr id="10" name="Content Placeholder 9">
            <a:extLst>
              <a:ext uri="{FF2B5EF4-FFF2-40B4-BE49-F238E27FC236}">
                <a16:creationId xmlns:a16="http://schemas.microsoft.com/office/drawing/2014/main" id="{ACAFFA6D-9E64-448B-A3C5-FA2F5CF5E996}"/>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b="13754"/>
          <a:stretch/>
        </p:blipFill>
        <p:spPr>
          <a:xfrm>
            <a:off x="6786820" y="207963"/>
            <a:ext cx="4351338" cy="3752850"/>
          </a:xfrm>
        </p:spPr>
      </p:pic>
      <p:sp>
        <p:nvSpPr>
          <p:cNvPr id="2" name="Title 1">
            <a:extLst>
              <a:ext uri="{FF2B5EF4-FFF2-40B4-BE49-F238E27FC236}">
                <a16:creationId xmlns:a16="http://schemas.microsoft.com/office/drawing/2014/main" id="{3E05C9D0-5D7C-4322-A6E8-A2708FF66E8C}"/>
              </a:ext>
            </a:extLst>
          </p:cNvPr>
          <p:cNvSpPr>
            <a:spLocks noGrp="1"/>
          </p:cNvSpPr>
          <p:nvPr>
            <p:ph type="title"/>
          </p:nvPr>
        </p:nvSpPr>
        <p:spPr>
          <a:xfrm>
            <a:off x="838200" y="-24607"/>
            <a:ext cx="10515600" cy="1325563"/>
          </a:xfrm>
        </p:spPr>
        <p:txBody>
          <a:bodyPr>
            <a:normAutofit/>
          </a:bodyPr>
          <a:lstStyle/>
          <a:p>
            <a:r>
              <a:rPr lang="en-US" sz="2800" dirty="0"/>
              <a:t>How to Spot and Save At Risk Students in Time Makes the Difference in Student’s Progression with the Class</a:t>
            </a:r>
          </a:p>
        </p:txBody>
      </p:sp>
      <p:sp>
        <p:nvSpPr>
          <p:cNvPr id="4" name="Slide Number Placeholder 3">
            <a:extLst>
              <a:ext uri="{FF2B5EF4-FFF2-40B4-BE49-F238E27FC236}">
                <a16:creationId xmlns:a16="http://schemas.microsoft.com/office/drawing/2014/main" id="{3E239ECA-A004-452D-AADD-172EB60ED31F}"/>
              </a:ext>
            </a:extLst>
          </p:cNvPr>
          <p:cNvSpPr>
            <a:spLocks noGrp="1"/>
          </p:cNvSpPr>
          <p:nvPr>
            <p:ph type="sldNum" sz="quarter" idx="12"/>
          </p:nvPr>
        </p:nvSpPr>
        <p:spPr/>
        <p:txBody>
          <a:bodyPr/>
          <a:lstStyle/>
          <a:p>
            <a:fld id="{662530B2-E2E6-462C-ACF8-2A7BCFFCA905}" type="slidenum">
              <a:rPr lang="en-US" smtClean="0"/>
              <a:t>6</a:t>
            </a:fld>
            <a:endParaRPr lang="en-US"/>
          </a:p>
        </p:txBody>
      </p:sp>
      <p:sp>
        <p:nvSpPr>
          <p:cNvPr id="15" name="Content Placeholder 14">
            <a:extLst>
              <a:ext uri="{FF2B5EF4-FFF2-40B4-BE49-F238E27FC236}">
                <a16:creationId xmlns:a16="http://schemas.microsoft.com/office/drawing/2014/main" id="{57EFCAE8-03AB-401C-88CF-907635AB7E68}"/>
              </a:ext>
            </a:extLst>
          </p:cNvPr>
          <p:cNvSpPr>
            <a:spLocks noGrp="1"/>
          </p:cNvSpPr>
          <p:nvPr>
            <p:ph sz="half" idx="1"/>
          </p:nvPr>
        </p:nvSpPr>
        <p:spPr>
          <a:xfrm>
            <a:off x="838200" y="1444625"/>
            <a:ext cx="5181600" cy="4351338"/>
          </a:xfrm>
        </p:spPr>
        <p:txBody>
          <a:bodyPr>
            <a:normAutofit/>
          </a:bodyPr>
          <a:lstStyle/>
          <a:p>
            <a:endParaRPr lang="en-US" sz="2400" dirty="0"/>
          </a:p>
          <a:p>
            <a:endParaRPr lang="en-US" sz="2400" dirty="0"/>
          </a:p>
          <a:p>
            <a:endParaRPr lang="en-US" sz="2400" dirty="0"/>
          </a:p>
          <a:p>
            <a:r>
              <a:rPr lang="en-US" sz="2400" dirty="0"/>
              <a:t>University administrations hence need to find a way of both </a:t>
            </a:r>
            <a:r>
              <a:rPr lang="en-US" sz="2400" b="1" dirty="0"/>
              <a:t>identifying</a:t>
            </a:r>
            <a:r>
              <a:rPr lang="en-US" sz="2400" dirty="0"/>
              <a:t> an at-risk student and </a:t>
            </a:r>
            <a:r>
              <a:rPr lang="en-US" sz="2400" b="1" dirty="0"/>
              <a:t>provide mitigating assistance</a:t>
            </a:r>
            <a:r>
              <a:rPr lang="en-US" sz="2400" dirty="0"/>
              <a:t> to prevent the student from dropping out of the course. </a:t>
            </a:r>
          </a:p>
        </p:txBody>
      </p:sp>
    </p:spTree>
    <p:extLst>
      <p:ext uri="{BB962C8B-B14F-4D97-AF65-F5344CB8AC3E}">
        <p14:creationId xmlns:p14="http://schemas.microsoft.com/office/powerpoint/2010/main" val="44892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872BFF-961D-42C2-8A5A-21A48B8ACC09}"/>
              </a:ext>
            </a:extLst>
          </p:cNvPr>
          <p:cNvSpPr>
            <a:spLocks noGrp="1"/>
          </p:cNvSpPr>
          <p:nvPr>
            <p:ph type="sldNum" sz="quarter" idx="12"/>
          </p:nvPr>
        </p:nvSpPr>
        <p:spPr/>
        <p:txBody>
          <a:bodyPr/>
          <a:lstStyle/>
          <a:p>
            <a:fld id="{662530B2-E2E6-462C-ACF8-2A7BCFFCA905}" type="slidenum">
              <a:rPr lang="en-US" smtClean="0"/>
              <a:t>7</a:t>
            </a:fld>
            <a:endParaRPr lang="en-US"/>
          </a:p>
        </p:txBody>
      </p:sp>
      <p:pic>
        <p:nvPicPr>
          <p:cNvPr id="2052" name="Picture 4">
            <a:extLst>
              <a:ext uri="{FF2B5EF4-FFF2-40B4-BE49-F238E27FC236}">
                <a16:creationId xmlns:a16="http://schemas.microsoft.com/office/drawing/2014/main" id="{24F2DE21-197C-4DD6-A9B2-FEF1D4E994D9}"/>
              </a:ext>
            </a:extLst>
          </p:cNvPr>
          <p:cNvPicPr>
            <a:picLocks noGrp="1" noChangeAspect="1" noChangeArrowheads="1"/>
          </p:cNvPicPr>
          <p:nvPr>
            <p:ph idx="1"/>
          </p:nvPr>
        </p:nvPicPr>
        <p:blipFill>
          <a:blip r:embed="rId3"/>
          <a:srcRect t="4747"/>
          <a:stretch>
            <a:fillRect/>
          </a:stretch>
        </p:blipFill>
        <p:spPr bwMode="auto">
          <a:xfrm>
            <a:off x="1631572" y="744354"/>
            <a:ext cx="8928856" cy="565091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C8A674-8583-92C4-937B-791BC39AADFE}"/>
              </a:ext>
            </a:extLst>
          </p:cNvPr>
          <p:cNvSpPr txBox="1"/>
          <p:nvPr/>
        </p:nvSpPr>
        <p:spPr>
          <a:xfrm>
            <a:off x="2945219" y="233486"/>
            <a:ext cx="8208335" cy="369332"/>
          </a:xfrm>
          <a:prstGeom prst="rect">
            <a:avLst/>
          </a:prstGeom>
          <a:noFill/>
        </p:spPr>
        <p:txBody>
          <a:bodyPr wrap="square">
            <a:spAutoFit/>
          </a:bodyPr>
          <a:lstStyle/>
          <a:p>
            <a:r>
              <a:rPr lang="en-IN" dirty="0"/>
              <a:t>Random Forest Provides the Strongest Prediction of Student Withdrawal Risk</a:t>
            </a:r>
          </a:p>
        </p:txBody>
      </p:sp>
    </p:spTree>
    <p:extLst>
      <p:ext uri="{BB962C8B-B14F-4D97-AF65-F5344CB8AC3E}">
        <p14:creationId xmlns:p14="http://schemas.microsoft.com/office/powerpoint/2010/main" val="214089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373CFE-7138-4E07-9588-4E43C2597893}"/>
              </a:ext>
            </a:extLst>
          </p:cNvPr>
          <p:cNvSpPr>
            <a:spLocks noGrp="1"/>
          </p:cNvSpPr>
          <p:nvPr>
            <p:ph type="sldNum" sz="quarter" idx="12"/>
          </p:nvPr>
        </p:nvSpPr>
        <p:spPr/>
        <p:txBody>
          <a:bodyPr/>
          <a:lstStyle/>
          <a:p>
            <a:fld id="{662530B2-E2E6-462C-ACF8-2A7BCFFCA905}" type="slidenum">
              <a:rPr lang="en-US" smtClean="0"/>
              <a:t>8</a:t>
            </a:fld>
            <a:endParaRPr lang="en-US"/>
          </a:p>
        </p:txBody>
      </p:sp>
      <p:sp>
        <p:nvSpPr>
          <p:cNvPr id="5" name="Content Placeholder 4">
            <a:extLst>
              <a:ext uri="{FF2B5EF4-FFF2-40B4-BE49-F238E27FC236}">
                <a16:creationId xmlns:a16="http://schemas.microsoft.com/office/drawing/2014/main" id="{6AD24C3C-6CE7-49ED-8125-CDFA31A4AA22}"/>
              </a:ext>
            </a:extLst>
          </p:cNvPr>
          <p:cNvSpPr>
            <a:spLocks noGrp="1"/>
          </p:cNvSpPr>
          <p:nvPr>
            <p:ph idx="1"/>
          </p:nvPr>
        </p:nvSpPr>
        <p:spPr/>
        <p:txBody>
          <a:bodyPr/>
          <a:lstStyle/>
          <a:p>
            <a:endParaRPr lang="en-US"/>
          </a:p>
        </p:txBody>
      </p:sp>
      <p:pic>
        <p:nvPicPr>
          <p:cNvPr id="1028" name="Picture 4">
            <a:extLst>
              <a:ext uri="{FF2B5EF4-FFF2-40B4-BE49-F238E27FC236}">
                <a16:creationId xmlns:a16="http://schemas.microsoft.com/office/drawing/2014/main" id="{3F241462-646C-4D3B-8F49-16F5F470C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8988"/>
            <a:ext cx="12192000" cy="541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846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9CDF-10AC-43C4-B7D0-D71D42F17B3E}"/>
              </a:ext>
            </a:extLst>
          </p:cNvPr>
          <p:cNvSpPr>
            <a:spLocks noGrp="1"/>
          </p:cNvSpPr>
          <p:nvPr>
            <p:ph type="title"/>
          </p:nvPr>
        </p:nvSpPr>
        <p:spPr>
          <a:xfrm>
            <a:off x="838200" y="-15875"/>
            <a:ext cx="10515600" cy="1325563"/>
          </a:xfrm>
        </p:spPr>
        <p:txBody>
          <a:bodyPr>
            <a:noAutofit/>
          </a:bodyPr>
          <a:lstStyle/>
          <a:p>
            <a:pPr lvl="0"/>
            <a:r>
              <a:rPr lang="en-US" sz="2400" dirty="0"/>
              <a:t>Index of Multiple Deprivation, Highest Education Levels, Region, Gender and Number of Previous Attempts can also Differentiate Withdrawal Patterns.</a:t>
            </a:r>
          </a:p>
        </p:txBody>
      </p:sp>
      <p:sp>
        <p:nvSpPr>
          <p:cNvPr id="4" name="Slide Number Placeholder 3">
            <a:extLst>
              <a:ext uri="{FF2B5EF4-FFF2-40B4-BE49-F238E27FC236}">
                <a16:creationId xmlns:a16="http://schemas.microsoft.com/office/drawing/2014/main" id="{E6373CFE-7138-4E07-9588-4E43C2597893}"/>
              </a:ext>
            </a:extLst>
          </p:cNvPr>
          <p:cNvSpPr>
            <a:spLocks noGrp="1"/>
          </p:cNvSpPr>
          <p:nvPr>
            <p:ph type="sldNum" sz="quarter" idx="12"/>
          </p:nvPr>
        </p:nvSpPr>
        <p:spPr/>
        <p:txBody>
          <a:bodyPr/>
          <a:lstStyle/>
          <a:p>
            <a:fld id="{662530B2-E2E6-462C-ACF8-2A7BCFFCA905}" type="slidenum">
              <a:rPr lang="en-US" smtClean="0"/>
              <a:t>9</a:t>
            </a:fld>
            <a:endParaRPr lang="en-US"/>
          </a:p>
        </p:txBody>
      </p:sp>
      <p:pic>
        <p:nvPicPr>
          <p:cNvPr id="6" name="Content Placeholder 5" descr="C:\Users\USER\AppData\Local\Microsoft\Windows\INetCache\Content.MSO\6BAE32AC.tmp">
            <a:extLst>
              <a:ext uri="{FF2B5EF4-FFF2-40B4-BE49-F238E27FC236}">
                <a16:creationId xmlns:a16="http://schemas.microsoft.com/office/drawing/2014/main" id="{2DDFBB93-3330-4F30-8E32-60B66A61B4E1}"/>
              </a:ext>
            </a:extLst>
          </p:cNvPr>
          <p:cNvPicPr>
            <a:picLocks noGrp="1"/>
          </p:cNvPicPr>
          <p:nvPr>
            <p:ph idx="1"/>
          </p:nvPr>
        </p:nvPicPr>
        <p:blipFill rotWithShape="1">
          <a:blip r:embed="rId3">
            <a:extLst>
              <a:ext uri="{28A0092B-C50C-407E-A947-70E740481C1C}">
                <a14:useLocalDpi xmlns:a14="http://schemas.microsoft.com/office/drawing/2010/main" val="0"/>
              </a:ext>
            </a:extLst>
          </a:blip>
          <a:srcRect t="6323"/>
          <a:stretch/>
        </p:blipFill>
        <p:spPr bwMode="auto">
          <a:xfrm>
            <a:off x="457200" y="1495424"/>
            <a:ext cx="11277600" cy="4727575"/>
          </a:xfrm>
          <a:prstGeom prst="rect">
            <a:avLst/>
          </a:prstGeom>
          <a:noFill/>
          <a:ln>
            <a:noFill/>
          </a:ln>
        </p:spPr>
      </p:pic>
      <p:sp>
        <p:nvSpPr>
          <p:cNvPr id="3" name="Rectangle 2">
            <a:extLst>
              <a:ext uri="{FF2B5EF4-FFF2-40B4-BE49-F238E27FC236}">
                <a16:creationId xmlns:a16="http://schemas.microsoft.com/office/drawing/2014/main" id="{C425D7B7-AD82-4DBC-BABD-250836E72EE4}"/>
              </a:ext>
            </a:extLst>
          </p:cNvPr>
          <p:cNvSpPr/>
          <p:nvPr/>
        </p:nvSpPr>
        <p:spPr>
          <a:xfrm>
            <a:off x="3019426" y="1495425"/>
            <a:ext cx="8629650" cy="121919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877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The Strategy for Spotting At-Risk Student Should Involve Checking Student Performances for Assessment Date 19, 24, 34, 49, 54 and 69 and Assessments with High Student Credits, and Students Scoring lower than 72 across all Assessments</a:t>
            </a:r>
          </a:p>
        </p:txBody>
      </p:sp>
      <p:sp>
        <p:nvSpPr>
          <p:cNvPr id="14" name="Text Placeholder 13">
            <a:extLst>
              <a:ext uri="{FF2B5EF4-FFF2-40B4-BE49-F238E27FC236}">
                <a16:creationId xmlns:a16="http://schemas.microsoft.com/office/drawing/2014/main" id="{5F6695F9-D3BA-46B4-92FB-35EF72EE1DE5}"/>
              </a:ext>
            </a:extLst>
          </p:cNvPr>
          <p:cNvSpPr>
            <a:spLocks noGrp="1"/>
          </p:cNvSpPr>
          <p:nvPr>
            <p:ph type="body" idx="1"/>
          </p:nvPr>
        </p:nvSpPr>
        <p:spPr>
          <a:xfrm>
            <a:off x="3238500" y="1538288"/>
            <a:ext cx="5157787" cy="823912"/>
          </a:xfrm>
        </p:spPr>
        <p:txBody>
          <a:bodyPr/>
          <a:lstStyle/>
          <a:p>
            <a:pPr algn="ctr"/>
            <a:r>
              <a:rPr lang="en-US" dirty="0"/>
              <a:t>Spotting Strategy</a:t>
            </a:r>
          </a:p>
        </p:txBody>
      </p:sp>
      <p:graphicFrame>
        <p:nvGraphicFramePr>
          <p:cNvPr id="12" name="Content Placeholder 11">
            <a:extLst>
              <a:ext uri="{FF2B5EF4-FFF2-40B4-BE49-F238E27FC236}">
                <a16:creationId xmlns:a16="http://schemas.microsoft.com/office/drawing/2014/main" id="{6B00A284-C204-4CCF-9D42-4363BFEFE934}"/>
              </a:ext>
            </a:extLst>
          </p:cNvPr>
          <p:cNvGraphicFramePr>
            <a:graphicFrameLocks noGrp="1"/>
          </p:cNvGraphicFramePr>
          <p:nvPr>
            <p:ph sz="half" idx="2"/>
            <p:extLst>
              <p:ext uri="{D42A27DB-BD31-4B8C-83A1-F6EECF244321}">
                <p14:modId xmlns:p14="http://schemas.microsoft.com/office/powerpoint/2010/main" val="1200041078"/>
              </p:ext>
            </p:extLst>
          </p:nvPr>
        </p:nvGraphicFramePr>
        <p:xfrm>
          <a:off x="3238500" y="2362200"/>
          <a:ext cx="5157787"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10</a:t>
            </a:fld>
            <a:endParaRPr lang="en-US"/>
          </a:p>
        </p:txBody>
      </p:sp>
    </p:spTree>
    <p:extLst>
      <p:ext uri="{BB962C8B-B14F-4D97-AF65-F5344CB8AC3E}">
        <p14:creationId xmlns:p14="http://schemas.microsoft.com/office/powerpoint/2010/main" val="2302008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Mitigation Support need to be based on the IMD Band, Highest Education Level, Region, Gender and Status on Previous Attempts for the At-Risk Students</a:t>
            </a:r>
          </a:p>
        </p:txBody>
      </p:sp>
      <p:sp>
        <p:nvSpPr>
          <p:cNvPr id="15" name="Text Placeholder 14">
            <a:extLst>
              <a:ext uri="{FF2B5EF4-FFF2-40B4-BE49-F238E27FC236}">
                <a16:creationId xmlns:a16="http://schemas.microsoft.com/office/drawing/2014/main" id="{A67CDAF0-AEBA-4AC5-8141-4F061DA277BD}"/>
              </a:ext>
            </a:extLst>
          </p:cNvPr>
          <p:cNvSpPr>
            <a:spLocks noGrp="1"/>
          </p:cNvSpPr>
          <p:nvPr>
            <p:ph type="body" sz="quarter" idx="3"/>
          </p:nvPr>
        </p:nvSpPr>
        <p:spPr>
          <a:xfrm>
            <a:off x="3055937" y="1466851"/>
            <a:ext cx="5183188" cy="823912"/>
          </a:xfrm>
        </p:spPr>
        <p:txBody>
          <a:bodyPr/>
          <a:lstStyle/>
          <a:p>
            <a:pPr algn="ctr"/>
            <a:r>
              <a:rPr lang="en-US" dirty="0"/>
              <a:t>Mitigation Strategy</a:t>
            </a:r>
          </a:p>
        </p:txBody>
      </p:sp>
      <p:graphicFrame>
        <p:nvGraphicFramePr>
          <p:cNvPr id="17" name="Content Placeholder 16">
            <a:extLst>
              <a:ext uri="{FF2B5EF4-FFF2-40B4-BE49-F238E27FC236}">
                <a16:creationId xmlns:a16="http://schemas.microsoft.com/office/drawing/2014/main" id="{451D79D1-8486-4353-BC9D-960297CC5353}"/>
              </a:ext>
            </a:extLst>
          </p:cNvPr>
          <p:cNvGraphicFramePr>
            <a:graphicFrameLocks noGrp="1"/>
          </p:cNvGraphicFramePr>
          <p:nvPr>
            <p:ph sz="quarter" idx="4"/>
            <p:extLst>
              <p:ext uri="{D42A27DB-BD31-4B8C-83A1-F6EECF244321}">
                <p14:modId xmlns:p14="http://schemas.microsoft.com/office/powerpoint/2010/main" val="3095705126"/>
              </p:ext>
            </p:extLst>
          </p:nvPr>
        </p:nvGraphicFramePr>
        <p:xfrm>
          <a:off x="3055937" y="2290763"/>
          <a:ext cx="5183188"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11</a:t>
            </a:fld>
            <a:endParaRPr lang="en-US"/>
          </a:p>
        </p:txBody>
      </p:sp>
    </p:spTree>
    <p:extLst>
      <p:ext uri="{BB962C8B-B14F-4D97-AF65-F5344CB8AC3E}">
        <p14:creationId xmlns:p14="http://schemas.microsoft.com/office/powerpoint/2010/main" val="1389065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CF78B16-86F7-4318-822A-5BC15B88E28F}"/>
              </a:ext>
            </a:extLst>
          </p:cNvPr>
          <p:cNvSpPr>
            <a:spLocks noGrp="1"/>
          </p:cNvSpPr>
          <p:nvPr>
            <p:ph type="title"/>
          </p:nvPr>
        </p:nvSpPr>
        <p:spPr/>
        <p:txBody>
          <a:bodyPr>
            <a:noAutofit/>
          </a:bodyPr>
          <a:lstStyle/>
          <a:p>
            <a:r>
              <a:rPr lang="en-US" sz="2400" dirty="0"/>
              <a:t>The Study has Generalizability Limitations and, Limitations in terms of Inferred rather than Direct Mitigation Recommendations and the Multifaceted Student Support Strategy. </a:t>
            </a:r>
          </a:p>
        </p:txBody>
      </p:sp>
      <p:graphicFrame>
        <p:nvGraphicFramePr>
          <p:cNvPr id="10" name="Content Placeholder 9">
            <a:extLst>
              <a:ext uri="{FF2B5EF4-FFF2-40B4-BE49-F238E27FC236}">
                <a16:creationId xmlns:a16="http://schemas.microsoft.com/office/drawing/2014/main" id="{C5A928AE-C916-4DD6-ACDC-71608BAC8273}"/>
              </a:ext>
            </a:extLst>
          </p:cNvPr>
          <p:cNvGraphicFramePr>
            <a:graphicFrameLocks noGrp="1"/>
          </p:cNvGraphicFramePr>
          <p:nvPr>
            <p:ph idx="1"/>
            <p:extLst>
              <p:ext uri="{D42A27DB-BD31-4B8C-83A1-F6EECF244321}">
                <p14:modId xmlns:p14="http://schemas.microsoft.com/office/powerpoint/2010/main" val="679819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a:extLst>
              <a:ext uri="{FF2B5EF4-FFF2-40B4-BE49-F238E27FC236}">
                <a16:creationId xmlns:a16="http://schemas.microsoft.com/office/drawing/2014/main" id="{E11D2C94-7F94-4140-8030-47A30F16904E}"/>
              </a:ext>
            </a:extLst>
          </p:cNvPr>
          <p:cNvSpPr>
            <a:spLocks noGrp="1"/>
          </p:cNvSpPr>
          <p:nvPr>
            <p:ph type="sldNum" sz="quarter" idx="12"/>
          </p:nvPr>
        </p:nvSpPr>
        <p:spPr/>
        <p:txBody>
          <a:bodyPr/>
          <a:lstStyle/>
          <a:p>
            <a:fld id="{662530B2-E2E6-462C-ACF8-2A7BCFFCA905}" type="slidenum">
              <a:rPr lang="en-US" smtClean="0"/>
              <a:t>12</a:t>
            </a:fld>
            <a:endParaRPr lang="en-US"/>
          </a:p>
        </p:txBody>
      </p:sp>
    </p:spTree>
    <p:extLst>
      <p:ext uri="{BB962C8B-B14F-4D97-AF65-F5344CB8AC3E}">
        <p14:creationId xmlns:p14="http://schemas.microsoft.com/office/powerpoint/2010/main" val="4221965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2428</TotalTime>
  <Words>1221</Words>
  <Application>Microsoft Office PowerPoint</Application>
  <PresentationFormat>Widescreen</PresentationFormat>
  <Paragraphs>98</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Learning Analytics Spotting an At-Risk Student in Time</vt:lpstr>
      <vt:lpstr>Assessment Date, Credit and Score should form Spotting Strategy while IMD Band, Highest Education Level, Region, Gender and Previous Attempts should form Mitigation Targets</vt:lpstr>
      <vt:lpstr>Pace of Learning and Increased Autonomy Expose Students to Risk of Being Left Behind in Classes</vt:lpstr>
      <vt:lpstr>PowerPoint Presentation</vt:lpstr>
      <vt:lpstr>PowerPoint Presentation</vt:lpstr>
      <vt:lpstr>How to Spot and Save At Risk Students in Time Makes the Difference in Student’s Progression with the Class</vt:lpstr>
      <vt:lpstr>PowerPoint Presentation</vt:lpstr>
      <vt:lpstr>PowerPoint Presentation</vt:lpstr>
      <vt:lpstr>Index of Multiple Deprivation, Highest Education Levels, Region, Gender and Number of Previous Attempts can also Differentiate Withdrawal Patterns.</vt:lpstr>
      <vt:lpstr>The Strategy for Spotting At-Risk Student Should Involve Checking Student Performances for Assessment Date 19, 24, 34, 49, 54 and 69 and Assessments with High Student Credits, and Students Scoring lower than 72 across all Assessments</vt:lpstr>
      <vt:lpstr>Mitigation Support need to be based on the IMD Band, Highest Education Level, Region, Gender and Status on Previous Attempts for the At-Risk Students</vt:lpstr>
      <vt:lpstr>The Study has Generalizability Limitations and, Limitations in terms of Inferred rather than Direct Mitigation Recommendations and the Multifaceted Student Support Strategy.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Analytics Spotting an at-risk student in time</dc:title>
  <dc:creator> </dc:creator>
  <cp:lastModifiedBy>ankith reddy</cp:lastModifiedBy>
  <cp:revision>46</cp:revision>
  <dcterms:created xsi:type="dcterms:W3CDTF">2026-07-04T21:28:17Z</dcterms:created>
  <dcterms:modified xsi:type="dcterms:W3CDTF">2026-08-21T17:57:10Z</dcterms:modified>
</cp:coreProperties>
</file>